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600" b="0" i="0" u="none" strike="noStrike">
                <a:solidFill>
                  <a:srgbClr val="1B3A6B"/>
                </a:solidFill>
                <a:latin typeface="Arial"/>
              </a:rPr>
              <a:t>글로벌 생성형 AI 시장 규모 추이 (조 달러)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시장 규모 (조 달러)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0.0&quot;T$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0.8</c:v>
                </c:pt>
                <c:pt idx="2">
                  <c:v>1.3</c:v>
                </c:pt>
                <c:pt idx="3">
                  <c:v>2</c:v>
                </c:pt>
                <c:pt idx="4">
                  <c:v>3.1</c:v>
                </c:pt>
                <c:pt idx="5">
                  <c:v>4.5</c:v>
                </c:pt>
              </c:numCache>
            </c:numRef>
          </c:val>
        </c:ser>
        <c:dLbls>
          <c:numFmt formatCode="0.0&quot;T$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B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4F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600" b="0" i="0" u="none" strike="noStrike">
                <a:solidFill>
                  <a:srgbClr val="1B3A6B"/>
                </a:solidFill>
                <a:latin typeface="Arial"/>
              </a:rPr>
              <a:t>직무별 평균 연봉 비교 (단위: 만원 · 국내 추정치)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연봉 (만원)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dLbls>
            <c:numFmt formatCode="#,##0&quot;만원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신입 일반 사무직</c:v>
                  </c:pt>
                  <c:pt idx="1">
                    <c:v>신입 IT 개발자</c:v>
                  </c:pt>
                  <c:pt idx="2">
                    <c:v>AI 기초 자격 보유</c:v>
                  </c:pt>
                  <c:pt idx="3">
                    <c:v>AI 중급 개발자</c:v>
                  </c:pt>
                  <c:pt idx="4">
                    <c:v>AI 시니어 전문가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3200</c:v>
                </c:pt>
                <c:pt idx="1">
                  <c:v>4500</c:v>
                </c:pt>
                <c:pt idx="2">
                  <c:v>5800</c:v>
                </c:pt>
                <c:pt idx="3">
                  <c:v>8500</c:v>
                </c:pt>
                <c:pt idx="4">
                  <c:v>15000</c:v>
                </c:pt>
              </c:numCache>
            </c:numRef>
          </c:val>
        </c:ser>
        <c:dLbls>
          <c:numFmt formatCode="#,##0&quot;만원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F4F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600" b="0" i="0" u="none" strike="noStrike">
                <a:solidFill>
                  <a:srgbClr val="1B3A6B"/>
                </a:solidFill>
                <a:latin typeface="Arial"/>
              </a:rPr>
              <a:t>글로벌 클라우드 시장 점유율 (2026년 기준)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글로벌 클라우드 시장 점유율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bubble3D val="0"/>
            <c:spPr>
              <a:solidFill>
                <a:srgbClr val="0078D4"/>
              </a:solidFill>
              <a:effectLst/>
            </c:spPr>
          </c:dPt>
          <c:dPt>
            <c:idx val="2"/>
            <c:bubble3D val="0"/>
            <c:spPr>
              <a:solidFill>
                <a:srgbClr val="107C41"/>
              </a:solidFill>
              <a:effectLst/>
            </c:spPr>
          </c:dPt>
          <c:dPt>
            <c:idx val="3"/>
            <c:bubble3D val="0"/>
            <c:spPr>
              <a:solidFill>
                <a:srgbClr val="FFB900"/>
              </a:solidFill>
              <a:effectLst/>
            </c:spPr>
          </c:dPt>
          <c:dPt>
            <c:idx val="4"/>
            <c:bubble3D val="0"/>
            <c:spPr>
              <a:solidFill>
                <a:srgbClr val="E8F4FD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20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AWS (31%)</c:v>
                </c:pt>
                <c:pt idx="1">
                  <c:v>Microsoft Azure (25%)</c:v>
                </c:pt>
                <c:pt idx="2">
                  <c:v>Google Cloud (11%)</c:v>
                </c:pt>
                <c:pt idx="3">
                  <c:v>Alibaba (4%)</c:v>
                </c:pt>
                <c:pt idx="4">
                  <c:v>기타 (29%)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31</c:v>
                </c:pt>
                <c:pt idx="1">
                  <c:v>25</c:v>
                </c:pt>
                <c:pt idx="2">
                  <c:v>11</c:v>
                </c:pt>
                <c:pt idx="3">
                  <c:v>4</c:v>
                </c:pt>
                <c:pt idx="4">
                  <c:v>29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7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700" b="0" i="0" u="none" strike="noStrike">
                <a:solidFill>
                  <a:srgbClr val="1B3A6B"/>
                </a:solidFill>
                <a:latin typeface="Arial"/>
              </a:rPr>
              <a:t>영역별 출제 비중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출제 비중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8D4"/>
              </a:solidFill>
              <a:effectLst/>
            </c:spPr>
          </c:dPt>
          <c:dPt>
            <c:idx val="1"/>
            <c:bubble3D val="0"/>
            <c:spPr>
              <a:solidFill>
                <a:srgbClr val="D83B01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7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7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20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① AI 개념 및 역량 이해 (40~45%)</c:v>
                </c:pt>
                <c:pt idx="1">
                  <c:v>② Foundry 기반 AI 솔루션 구현 (55~60%)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42</c:v>
                </c:pt>
                <c:pt idx="1">
                  <c:v>58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09248" y="27432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4890" y="109728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19613" y="192024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23378" y="274320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35713" y="356616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4521" y="438912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26482" y="521208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50939" y="6035040"/>
            <a:ext cx="274320" cy="274320"/>
          </a:xfrm>
          <a:prstGeom prst="ellipse">
            <a:avLst/>
          </a:prstGeom>
          <a:solidFill>
            <a:srgbClr val="00B7C3">
              <a:alpha val="50000"/>
            </a:srgbClr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377440"/>
            <a:ext cx="12161520" cy="73152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89120"/>
            <a:ext cx="12161520" cy="27432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2026학년도 2학기 · 국민대학교 교양대학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완성 합격과정 — 당신의 AI 커리어가 시작되는 14일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651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오리엔테이션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지금 AI-901인가 · 과정 소개 · 사전 진단평가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7200" y="4709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166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일시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440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11/9(월) 10:00~10:50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37560" y="46634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337560" y="4709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5166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337560" y="5440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실시간 · LMS 녹화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46634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217920" y="4709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5166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5440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전원 응시 · 합격률 80%+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98280" y="46634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098280" y="47091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5166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5440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공식 자격증 취득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㈜코리아에듀 · www.coreaedu.com    |    강사: 빅데이터 김교수 (SJK)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오늘 OT 50분 — 이렇게 진행합니다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가장 뜨거운 자격증, AI-901로 시작하는 여정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51560"/>
            <a:ext cx="2103120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05156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10:00~10:05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0" y="1234440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18688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105156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환영 · 세션 안내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1947672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947672"/>
            <a:ext cx="2103120" cy="804672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1947672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10:05~10:15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0" y="2130552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320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218688" y="2221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1947672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왜 지금 AI-901인가 (동기부여)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57200" y="2843784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843784"/>
            <a:ext cx="2103120" cy="804672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2843784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10:15~10:25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43200" y="3026664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4320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218688" y="3118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0" y="2843784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과정 개요 · 2주 일정 · 수료 기준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57200" y="3739896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39896"/>
            <a:ext cx="2103120" cy="804672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3739896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10:25~10:30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743200" y="3922776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4320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3218688" y="4014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0" y="3739896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사용법 (coreaedu.com)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457200" y="4636008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FFB9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636008"/>
            <a:ext cx="2103120" cy="804672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" y="4636008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10:30~10:40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743200" y="4818888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74320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3218688" y="4910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3657600" y="4636008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시험 구조 (2영역·비중·문항·합격)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457200" y="553212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5532120"/>
            <a:ext cx="2103120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" y="553212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10:40~10:50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743200" y="5715000"/>
            <a:ext cx="457200" cy="45720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74320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3218688" y="5806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3657600" y="553212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진단평가 + Azure 계정 D-7 캡처 안내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왜 지금 AI인가?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살고 있는 "AI 대전환" 시대의 숫자들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2801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2022년 ChatGPT 등장 이후, 3년 만에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 지형이 완전히 바뀌었습니다.
</a:t>
            </a:r>
            <a:pPr indent="0" marL="0">
              <a:buNone/>
            </a:pPr>
            <a:r>
              <a:rPr lang="en-US" sz="2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AI를 이해하는 사람과 모르는 사람 사이의 격차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급격히 벌어지는 중.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3175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2697480" cy="1371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914400" y="4480560"/>
            <a:ext cx="178308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720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기업의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도입 선언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77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기준 Fortune 500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283464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31750">
            <a:solidFill>
              <a:srgbClr val="00B7C3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2834640"/>
            <a:ext cx="2697480" cy="13716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3756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30%+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3794760" y="4480560"/>
            <a:ext cx="1783080" cy="0"/>
          </a:xfrm>
          <a:prstGeom prst="line">
            <a:avLst/>
          </a:prstGeom>
          <a:noFill/>
          <a:ln w="19050">
            <a:solidFill>
              <a:srgbClr val="00B7C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45720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시장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성장률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5577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조사기관 종합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31750">
            <a:solidFill>
              <a:srgbClr val="D83B0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2834640"/>
            <a:ext cx="2697480" cy="13716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2.5배</a:t>
            </a:r>
            <a:endParaRPr lang="en-US" sz="4800" dirty="0"/>
          </a:p>
        </p:txBody>
      </p:sp>
      <p:sp>
        <p:nvSpPr>
          <p:cNvPr id="26" name="Shape 24"/>
          <p:cNvSpPr/>
          <p:nvPr/>
        </p:nvSpPr>
        <p:spPr>
          <a:xfrm>
            <a:off x="6675120" y="4480560"/>
            <a:ext cx="1783080" cy="0"/>
          </a:xfrm>
          <a:prstGeom prst="line">
            <a:avLst/>
          </a:prstGeom>
          <a:noFill/>
          <a:ln w="19050">
            <a:solidFill>
              <a:srgbClr val="D83B0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45720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인재 평균 연봉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(일반 IT 대비)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5577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주요 채용 플랫폼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98280" y="283464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31750">
            <a:solidFill>
              <a:srgbClr val="FFB900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98280" y="2834640"/>
            <a:ext cx="2697480" cy="13716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9828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1,200만+</a:t>
            </a:r>
            <a:endParaRPr lang="en-US" sz="4800" dirty="0"/>
          </a:p>
        </p:txBody>
      </p:sp>
      <p:sp>
        <p:nvSpPr>
          <p:cNvPr id="32" name="Shape 30"/>
          <p:cNvSpPr/>
          <p:nvPr/>
        </p:nvSpPr>
        <p:spPr>
          <a:xfrm>
            <a:off x="9555480" y="4480560"/>
            <a:ext cx="1783080" cy="0"/>
          </a:xfrm>
          <a:prstGeom prst="line">
            <a:avLst/>
          </a:prstGeom>
          <a:noFill/>
          <a:ln w="19050">
            <a:solidFill>
              <a:srgbClr val="FFB9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89720" y="45720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직무 수요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(글로벌 신규)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189720" y="5577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2026~2028 예측치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AI 시장 폭발적 성장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~ 2030년 글로벌 생성형 AI 시장 규모 (단위: 조 달러 추정)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33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188720"/>
          <a:ext cx="68580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1188720"/>
            <a:ext cx="4206240" cy="51206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인사이트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772400" y="1783080"/>
            <a:ext cx="3840480" cy="0"/>
          </a:xfrm>
          <a:prstGeom prst="line">
            <a:avLst/>
          </a:prstGeom>
          <a:noFill/>
          <a:ln w="19050">
            <a:solidFill>
              <a:srgbClr val="D83B0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0" y="1920240"/>
            <a:ext cx="38404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192024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5년간 9배 성장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→ 2030년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0.5T → 4.5T$ 전망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72400" y="3017520"/>
            <a:ext cx="38404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0" y="301752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산업으로 확산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3474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금융·의료·교육·제조·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 모든 영역 적용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772400" y="4114800"/>
            <a:ext cx="38404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63840" y="411480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0" y="4206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리터러시 필수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4572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AI를 활용하는 인재가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조직에서 우선 채용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772400" y="5212080"/>
            <a:ext cx="38404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63840" y="5212080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자격증이 증명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503920" y="5669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역량의 공식 증빙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글로벌 통용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AI 인재의 몸값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역량을 갖춘 사람 vs 그렇지 않은 사람 — 격차는?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33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188720"/>
          <a:ext cx="68580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1188720"/>
            <a:ext cx="4206240" cy="2468880"/>
          </a:xfrm>
          <a:prstGeom prst="roundRect">
            <a:avLst>
              <a:gd name="adj" fmla="val 3704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0" y="128016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격차의 현실
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자격 보유자 신입은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사무직 대비 </a:t>
            </a:r>
            <a:pPr indent="0" marL="0">
              <a:buNone/>
            </a:pPr>
            <a:r>
              <a:rPr lang="en-US" sz="21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1.8배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시니어 수준까지 </a:t>
            </a:r>
            <a:pPr indent="0" marL="0">
              <a:buNone/>
            </a:pPr>
            <a:r>
              <a:rPr lang="en-US" sz="21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4.7배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까지 벌어집니다.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89520" y="3840480"/>
            <a:ext cx="42062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3931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AI-901 — 첫 걸음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72400" y="4434840"/>
            <a:ext cx="3840480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45262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공식 인증으로
   AI 기초 역량 공식 증명
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취업 가산점 · 서류 통과율 ↑
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AI-102 중급 자격으로 이어지는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커리어 성장 경로의 출발점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AI-900 → AI-901, 왜 바뀌었나?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Microsoft가 자격증 체계를 2026년 전면 개편한 이유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103120"/>
            <a:ext cx="103327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828800"/>
            <a:ext cx="640080" cy="640080"/>
          </a:xfrm>
          <a:prstGeom prst="ellipse">
            <a:avLst/>
          </a:prstGeom>
          <a:solidFill>
            <a:srgbClr val="64748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AI-900 최초 출시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91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 이해 중심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없음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75888" y="1828800"/>
            <a:ext cx="640080" cy="640080"/>
          </a:xfrm>
          <a:prstGeom prst="ellipse">
            <a:avLst/>
          </a:prstGeom>
          <a:solidFill>
            <a:srgbClr val="0078D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7588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852928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852928" y="274320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2928" y="2743200"/>
            <a:ext cx="2286000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52928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혁명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44368" y="3291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폭발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 재편 시작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80176" y="1828800"/>
            <a:ext cx="640080" cy="640080"/>
          </a:xfrm>
          <a:prstGeom prst="ellipse">
            <a:avLst/>
          </a:prstGeom>
          <a:solidFill>
            <a:srgbClr val="00B7C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8017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157216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157216" y="274320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57216" y="2743200"/>
            <a:ext cx="2286000" cy="45720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57216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통합 발표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48656" y="3291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AI 플랫폼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체계 전환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84464" y="1828800"/>
            <a:ext cx="640080" cy="640080"/>
          </a:xfrm>
          <a:prstGeom prst="ellipse">
            <a:avLst/>
          </a:prstGeom>
          <a:solidFill>
            <a:srgbClr val="D83B0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8446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7461504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461504" y="274320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61504" y="2743200"/>
            <a:ext cx="2286000" cy="45720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61504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AI-900 폐지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552944" y="3291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요구와 괴리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개편 결정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588752" y="1828800"/>
            <a:ext cx="640080" cy="640080"/>
          </a:xfrm>
          <a:prstGeom prst="ellipse">
            <a:avLst/>
          </a:prstGeom>
          <a:solidFill>
            <a:srgbClr val="107C4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8875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9765792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2026.6+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9765792" y="274320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65792" y="2743200"/>
            <a:ext cx="2286000" cy="45720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65792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AI-901 신규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9857232" y="32918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중심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코드 포함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AI-901의 차별점
</a:t>
            </a:r>
            <a:pPr indent="0" marL="0">
              <a:buNone/>
            </a:pPr>
            <a:r>
              <a:rPr lang="en-US" sz="1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Microsoft Foundry 통합 플랫폼 실습  </a:t>
            </a:r>
            <a:pPr indent="0" marL="0">
              <a:buNone/>
            </a:pPr>
            <a:r>
              <a:rPr lang="en-US" sz="1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에이전틱 AI (최신 트렌드) 포함  </a:t>
            </a:r>
            <a:pPr indent="0" marL="0">
              <a:buNone/>
            </a:pPr>
            <a:r>
              <a:rPr lang="en-US" sz="1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기초 Python 코드 평가
</a:t>
            </a:r>
            <a:pPr indent="0" marL="0">
              <a:buNone/>
            </a:pPr>
            <a:r>
              <a:rPr lang="en-US" sz="17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1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"개념만 아는 사람"이 아닌 </a:t>
            </a:r>
            <a:pPr indent="0" marL="0">
              <a:buNone/>
            </a:pPr>
            <a:r>
              <a:rPr lang="en-US" sz="17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"실제로 만들 수 있는 사람"</a:t>
            </a:r>
            <a:pPr indent="0" marL="0">
              <a:buNone/>
            </a:pPr>
            <a:r>
              <a:rPr lang="en-US" sz="1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평가합니다.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왜 Microsoft Azure인가?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클라우드 Top 3 · 엔터프라이즈 AI 1위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33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188720"/>
          <a:ext cx="54864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217920" y="1188720"/>
            <a:ext cx="557784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31750">
            <a:solidFill>
              <a:srgbClr val="0078D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280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Microsoft Azure AI 강점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400800" y="1783080"/>
            <a:ext cx="521208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965960"/>
            <a:ext cx="52120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2194560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37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공식 파트너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2423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GPT-4, DALL-E 등 독점 통합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MS만의 Azure OpenAI Service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0" y="3063240"/>
            <a:ext cx="52120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37960" y="3291840"/>
            <a:ext cx="502920" cy="50292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3796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3154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엔터프라이즈 1위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3520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500대 기업 중 95% 사용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삼성·LG·현대차·금융권 표준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0" y="4160520"/>
            <a:ext cx="52120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37960" y="4389120"/>
            <a:ext cx="502920" cy="5029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379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🇰🇷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0" y="4251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서비스 완비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4617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 Central / Korea South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UI·문서·결제 지원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0" y="5257800"/>
            <a:ext cx="5212080" cy="960120"/>
          </a:xfrm>
          <a:prstGeom prst="roundRect">
            <a:avLst>
              <a:gd name="adj" fmla="val 4762"/>
            </a:avLst>
          </a:prstGeom>
          <a:solidFill>
            <a:srgbClr val="F8FB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37960" y="5486400"/>
            <a:ext cx="502920" cy="502920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3796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7132320" y="5349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자격증 공신력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7132320" y="57150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자격증 중 3대 메이저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(MS · AWS · Google) 리더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AI-901 취득, 당신에게 무엇을 주는가?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취업·학업·역량의 3가지 공식 효과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31750">
            <a:solidFill>
              <a:srgbClr val="0078D4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3749040" cy="14630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280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취업·커리어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서류 통과율 2~3배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이력서·자기소개서 "Microsoft 공인" 기재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LinkedIn에 공식 자격증 공유 가능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937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IT·금융·대기업 가산점 (최대 10점)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486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글로벌 통용 → 외국계 지원 가능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434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31750">
            <a:solidFill>
              <a:srgbClr val="107C41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3400" y="1188720"/>
            <a:ext cx="3749040" cy="146304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1280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학업·대학원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617720" y="283464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1772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진학 포트폴리오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교내 취업지원 활동 공식 인정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융합 전공·복수전공 유리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937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대학원 지원 서류 핵심 자료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486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창업 · 공모전 참가 자격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31750">
            <a:solidFill>
              <a:srgbClr val="D83B01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1188720"/>
            <a:ext cx="3749040" cy="146304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12801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48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역량·실전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8503920" y="283464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0" y="2834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실무 즉시 활용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45820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2주 뒤 Foundry로 챗봇 직접 제작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45820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Python으로 AI API 호출 가능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458200" y="4937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책임 있는 AI 설계 역량 보유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458200" y="5486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AI-102 중급 자격 준비 완료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이런 분들이 AI-901로 성공했습니다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전공·배경 수강생들의 변화 사례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0" y="1371600"/>
            <a:ext cx="1371600" cy="13716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9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👩‍🎓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김○○ (경영학과 3학년)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3383280"/>
            <a:ext cx="283464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2044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😓 Before
</a:t>
            </a:r>
            <a:pPr indent="0" marL="0">
              <a:buNone/>
            </a:pPr>
            <a:r>
              <a:rPr lang="en-US" sz="1300" i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"Python? 코딩? 겁부터 났어요"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After
</a:t>
            </a:r>
            <a:pPr indent="0" marL="0">
              <a:buNone/>
            </a:pPr>
            <a:r>
              <a:rPr lang="en-US" sz="1300" i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챗봇을 직접 만들어 공모전 수상!"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3383280" cy="868680"/>
          </a:xfrm>
          <a:prstGeom prst="roundRect">
            <a:avLst>
              <a:gd name="adj" fmla="val 5263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394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결과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삼성SDS 하계 인턴십 합격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434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1371600"/>
            <a:ext cx="1371600" cy="137160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</a:t>
            </a:r>
            <a:endParaRPr lang="en-US" sz="60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이○○ (국문학과 4학년)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800600" y="3383280"/>
            <a:ext cx="2834640" cy="0"/>
          </a:xfrm>
          <a:prstGeom prst="line">
            <a:avLst/>
          </a:prstGeom>
          <a:noFill/>
          <a:ln w="12700">
            <a:solidFill>
              <a:srgbClr val="107C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52044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1772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😓 Before
</a:t>
            </a:r>
            <a:pPr indent="0" marL="0">
              <a:buNone/>
            </a:pPr>
            <a:r>
              <a:rPr lang="en-US" sz="1300" i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"비전공자가 IT 취업할 수 있을까?"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26280" y="443484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1772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After
</a:t>
            </a:r>
            <a:pPr indent="0" marL="0">
              <a:buNone/>
            </a:pPr>
            <a:r>
              <a:rPr lang="en-US" sz="1300" i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기획 포지션으로 지원해보니 통과!"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26280" y="5349240"/>
            <a:ext cx="3383280" cy="868680"/>
          </a:xfrm>
          <a:prstGeom prst="roundRect">
            <a:avLst>
              <a:gd name="adj" fmla="val 5263"/>
            </a:avLst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17720" y="5394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결과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현대카드 AI 서비스 기획팀 입사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418320" y="1371600"/>
            <a:ext cx="1371600" cy="1371600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183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👩‍🔬</a:t>
            </a:r>
            <a:endParaRPr lang="en-US" sz="60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박○○ (화학과 대학원 진학)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8686800" y="3383280"/>
            <a:ext cx="2834640" cy="0"/>
          </a:xfrm>
          <a:prstGeom prst="line">
            <a:avLst/>
          </a:prstGeom>
          <a:noFill/>
          <a:ln w="12700">
            <a:solidFill>
              <a:srgbClr val="D83B0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352044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0392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😓 Before
</a:t>
            </a:r>
            <a:pPr indent="0" marL="0">
              <a:buNone/>
            </a:pPr>
            <a:r>
              <a:rPr lang="en-US" sz="1300" i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"논문 리뷰에 AI를 쓰고 싶었어요"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412480" y="443484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0392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After
</a:t>
            </a:r>
            <a:pPr indent="0" marL="0">
              <a:buNone/>
            </a:pPr>
            <a:r>
              <a:rPr lang="en-US" sz="1300" i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"Foundry로 논문 요약 챗봇 구축!"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412480" y="5349240"/>
            <a:ext cx="3383280" cy="868680"/>
          </a:xfrm>
          <a:prstGeom prst="roundRect">
            <a:avLst>
              <a:gd name="adj" fmla="val 5263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03920" y="5394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결과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KAIST AI 융합 대학원 합격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2주 뒤, 당신의 모습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11/9 → 11/20, 14일간의 변화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212080" cy="5120640"/>
          </a:xfrm>
          <a:prstGeom prst="roundRect">
            <a:avLst>
              <a:gd name="adj" fmla="val 1786"/>
            </a:avLst>
          </a:prstGeom>
          <a:solidFill>
            <a:srgbClr val="F1F5F9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521208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280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😶 지금의 나 (11/9 월)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286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"AI는 어렵고 복잡한 분야"라고 생각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ChatGPT는 써봤지만 작동 원리는 모름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74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생성형 AI·에이전트가 뭔지 설명 불가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069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Python은 들어봤지만 코드를 못 읽음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663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관련 자격증·경력 없음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257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이력서에 쓸 AI 경험 전무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760720" y="3200400"/>
            <a:ext cx="640080" cy="109728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14일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92240" y="1188720"/>
            <a:ext cx="5212080" cy="5120640"/>
          </a:xfrm>
          <a:prstGeom prst="roundRect">
            <a:avLst>
              <a:gd name="adj" fmla="val 1786"/>
            </a:avLst>
          </a:prstGeom>
          <a:solidFill>
            <a:srgbClr val="DCFCE7"/>
          </a:solidFill>
          <a:ln w="31750">
            <a:solidFill>
              <a:srgbClr val="107C41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1188720"/>
            <a:ext cx="5212080" cy="91440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1280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🤩 2주 뒤 나 (11/20 금)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1737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2286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Microsoft 공식 AI-901 자격증 보유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Foundry로 실제 AI 챗봇·에이전트 제작 가능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3474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생성형·에이전틱 AI 원리 설명 가능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4069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Python으로 AI API 호출 코드 작성·이해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4663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책임 있는 AI 6원칙 실무 적용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5257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Microsoft Learn 공식 자격증을 LinkedIn에 공유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👋 환영합니다 — 핵심 수치로 보는 과정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뒤 공식 AI-901 자격증 보유자가 될 100명 수강생께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2801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지금 이 OT에 </a:t>
            </a:r>
            <a:pPr indent="0" marL="0">
              <a:buNone/>
            </a:pPr>
            <a:r>
              <a:rPr lang="en-US" sz="2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참여하신 것만으로도 </a:t>
            </a:r>
            <a:pPr indent="0" marL="0">
              <a:buNone/>
            </a:pPr>
            <a:r>
              <a:rPr lang="en-US" sz="24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80% 성공</a:t>
            </a:r>
            <a:pPr indent="0" marL="0">
              <a:buNone/>
            </a:pPr>
            <a:r>
              <a:rPr lang="en-US" sz="2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것입니다.
</a:t>
            </a:r>
            <a:pPr indent="0" marL="0">
              <a:buNone/>
            </a:pPr>
            <a:r>
              <a:rPr lang="en-US" sz="17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20%는 "꾸준히 참여"와 "실습 완료" — 저희가 도와드립니다!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34440" y="2880360"/>
            <a:ext cx="1143000" cy="11430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수강 인원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26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100명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5577840"/>
            <a:ext cx="178308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669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국민대 학부 재학생</a:t>
            </a:r>
            <a:b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(전공 무관)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269748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0" y="2880360"/>
            <a:ext cx="1143000" cy="114300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333756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기간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4526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(11/9~20)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3794760" y="5577840"/>
            <a:ext cx="1783080" cy="0"/>
          </a:xfrm>
          <a:prstGeom prst="line">
            <a:avLst/>
          </a:prstGeom>
          <a:noFill/>
          <a:ln w="12700">
            <a:solidFill>
              <a:srgbClr val="00B7C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5669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평일 10:00~12:00 Zoom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269748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95160" y="2880360"/>
            <a:ext cx="1143000" cy="114300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학습량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4526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32시간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6675120" y="5577840"/>
            <a:ext cx="1783080" cy="0"/>
          </a:xfrm>
          <a:prstGeom prst="line">
            <a:avLst/>
          </a:prstGeom>
          <a:noFill/>
          <a:ln w="12700">
            <a:solidFill>
              <a:srgbClr val="107C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5669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18h + 자가학습 14h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098280" y="269748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875520" y="2880360"/>
            <a:ext cx="1143000" cy="1143000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75520" y="2880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4400" dirty="0"/>
          </a:p>
        </p:txBody>
      </p:sp>
      <p:sp>
        <p:nvSpPr>
          <p:cNvPr id="35" name="Text 33"/>
          <p:cNvSpPr txBox="1"/>
          <p:nvPr/>
        </p:nvSpPr>
        <p:spPr>
          <a:xfrm>
            <a:off x="909828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목표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45262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합격률 80%+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9555480" y="5577840"/>
            <a:ext cx="1783080" cy="0"/>
          </a:xfrm>
          <a:prstGeom prst="line">
            <a:avLst/>
          </a:prstGeom>
          <a:noFill/>
          <a:ln w="12700">
            <a:solidFill>
              <a:srgbClr val="D83B0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81160" y="56692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11/20(금) 실제 시험 응시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과정 개요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과정명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1188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1810512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810512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18105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468880" y="18105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국민대학교 학부 재학생 100명 (전공 구분 없음)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432304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432304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4323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243230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2026.11.09(월) ~ 11.20(금) · 2주 (자격시험 응시 포함)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054096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B90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54096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0540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교육시간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468880" y="305409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강의 평일 10:00~12:00 (2시간) · 전 회차 다시보기 제공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3675888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75888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6758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2468880" y="36758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온라인 블렌디드 — 자가학습 + Zoom 실시간 + 클라우드 실습 + 모의고사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297680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4297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학습량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246888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32시간 (실시간 강의 18h + 자가학습 14h)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4919472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919472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9194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환경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2468880" y="4919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for Students 계정 기반 Microsoft Foundry 실습 (학생 비용 부담 없음)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57200" y="5541264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FB90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5541264"/>
            <a:ext cx="18288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" y="55412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2468880" y="554126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참여자 전원 응시 · 합격률 80% 이상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교육 운영 체계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→ 이론 → 실습 → 점검 → 응시 (5단계)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3175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34440" y="1691640"/>
            <a:ext cx="731520" cy="7315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3931920"/>
            <a:ext cx="137160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진단평가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수준별 안내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97480" y="3200400"/>
            <a:ext cx="137160" cy="36576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2928" y="146304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31750">
            <a:solidFill>
              <a:srgbClr val="00B7C3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38728" y="1691640"/>
            <a:ext cx="731520" cy="73152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38728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2852928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2852928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218688" y="3931920"/>
            <a:ext cx="1371600" cy="0"/>
          </a:xfrm>
          <a:prstGeom prst="line">
            <a:avLst/>
          </a:prstGeom>
          <a:noFill/>
          <a:ln w="12700">
            <a:solidFill>
              <a:srgbClr val="00B7C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52928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기초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01768" y="3200400"/>
            <a:ext cx="137160" cy="36576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57216" y="146304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31750">
            <a:solidFill>
              <a:srgbClr val="107C4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43016" y="1691640"/>
            <a:ext cx="731520" cy="73152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43016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5157216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5157216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522976" y="3931920"/>
            <a:ext cx="1371600" cy="0"/>
          </a:xfrm>
          <a:prstGeom prst="line">
            <a:avLst/>
          </a:prstGeom>
          <a:noFill/>
          <a:ln w="12700">
            <a:solidFill>
              <a:srgbClr val="107C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57216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실습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06056" y="3200400"/>
            <a:ext cx="137160" cy="36576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61504" y="146304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31750">
            <a:solidFill>
              <a:srgbClr val="FFB900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47304" y="1691640"/>
            <a:ext cx="731520" cy="7315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47304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36" name="Text 34"/>
          <p:cNvSpPr txBox="1"/>
          <p:nvPr/>
        </p:nvSpPr>
        <p:spPr>
          <a:xfrm>
            <a:off x="7461504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4400" dirty="0"/>
          </a:p>
        </p:txBody>
      </p:sp>
      <p:sp>
        <p:nvSpPr>
          <p:cNvPr id="37" name="Text 35"/>
          <p:cNvSpPr txBox="1"/>
          <p:nvPr/>
        </p:nvSpPr>
        <p:spPr>
          <a:xfrm>
            <a:off x="7461504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점검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827264" y="3931920"/>
            <a:ext cx="1371600" cy="0"/>
          </a:xfrm>
          <a:prstGeom prst="line">
            <a:avLst/>
          </a:prstGeom>
          <a:noFill/>
          <a:ln w="12700">
            <a:solidFill>
              <a:srgbClr val="FFB9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61504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모의고사 2회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취약영역 클리닉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610344" y="3200400"/>
            <a:ext cx="137160" cy="36576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65792" y="146304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31750">
            <a:solidFill>
              <a:srgbClr val="D83B0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451592" y="1691640"/>
            <a:ext cx="731520" cy="731520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451592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44" name="Text 42"/>
          <p:cNvSpPr txBox="1"/>
          <p:nvPr/>
        </p:nvSpPr>
        <p:spPr>
          <a:xfrm>
            <a:off x="9765792" y="2560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4400" dirty="0"/>
          </a:p>
        </p:txBody>
      </p:sp>
      <p:sp>
        <p:nvSpPr>
          <p:cNvPr id="45" name="Text 43"/>
          <p:cNvSpPr txBox="1"/>
          <p:nvPr/>
        </p:nvSpPr>
        <p:spPr>
          <a:xfrm>
            <a:off x="9765792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10131552" y="3931920"/>
            <a:ext cx="1371600" cy="0"/>
          </a:xfrm>
          <a:prstGeom prst="line">
            <a:avLst/>
          </a:prstGeom>
          <a:noFill/>
          <a:ln w="12700">
            <a:solidFill>
              <a:srgbClr val="D83B0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765792" y="40233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자격시험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응시·결과관리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57200" y="55778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E8F4FD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설계 원칙 — 최소 인력으로 100명 안정 운영 · 역할 고정 · 일정 표준화 · 반복 업무 자동화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1주차 일정 (11/9~11/13)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개념 이해 + Python 기초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1371600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11/9(월)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1280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오리엔테이션 + 실습 환경 세팅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1645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과정 소개 · AI-901 시험 구조 · 사전 진단 · Azure for Students + Foundry 포털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B7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12848"/>
            <a:ext cx="1371600" cy="91440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304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11/10(화)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이론①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23042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워크로드 + 책임 있는 AI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26700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텍스트·음성·비전·정보추출·생성형·에이전트 / 책임 있는 AI 6원칙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36976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36976"/>
            <a:ext cx="1371600" cy="91440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328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11/11(수)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694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3284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비전공자 Python 입문 ①②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36941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변수·조건·반복·함수 / API 호출 구조 (엔드포인트·키·요청/응답)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261104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261104"/>
            <a:ext cx="1371600" cy="91440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4352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11/12(목)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18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이론②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2011680" y="43525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+ 생성형·에이전틱 AI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2011680" y="47183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회귀·분류·군집·지도/비지도 / LLM·토큰·프롬프트·임베딩·에이전트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5285232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3B0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285232"/>
            <a:ext cx="1371600" cy="91440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5376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11/13(금)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5742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5376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모의고사 + 해설 라이브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2011680" y="57424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실전 응시 (자동 채점) → 영역별 분석 → 2주차 클리닉 대상 선정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2주차 일정 (11/16~11/20)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 구현 실습 + 실제 응시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1371600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11/16(월)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실습①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1280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기본 구성 + 플레이그라운드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1645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프로젝트·엔드포인트·API 키·모델 카탈로그·배포 / Temperature·안전성·가드레일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B7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12848"/>
            <a:ext cx="1371600" cy="91440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304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11/17(화)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실습②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23042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구성 + 텍스트·음성·비전 서비스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26700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지시문·도구·지식 연결 / 감정 분석·번역·STT/TTS·이미지 캡션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36976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36976"/>
            <a:ext cx="1371600" cy="91440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328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11/18(수)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6941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실습③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3284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추출·이미지 생성 + Python SDK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36941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추출·이미지 생성 / Colab 보안 비밀·엔드포인트·시험 코드 읽기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261104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261104"/>
            <a:ext cx="1371600" cy="91440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4352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11/19(목)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18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2011680" y="43525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모의고사 + 취약영역 클리닉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2011680" y="47183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대비 향상도 분석 / 응시 환경 체크리스트·신분증·감독시험 유의사항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5285232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3B0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285232"/>
            <a:ext cx="1371600" cy="91440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5376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11/20(금)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57424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5376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AI-901 자격시험 실제 응시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2011680" y="57424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10:00~17:00 · 4개 시간대 분산 배정 (10/12/14/16시, 회차당 약 25명)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수료 기준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지표 및 목표 달성 기준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진도율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이상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2286000" y="2926080"/>
            <a:ext cx="347472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측정: LMS 진도 데이터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56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자격시험 응시율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1965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8046720" y="2926080"/>
            <a:ext cx="3474720" cy="0"/>
          </a:xfrm>
          <a:prstGeom prst="line">
            <a:avLst/>
          </a:prstGeom>
          <a:noFill/>
          <a:ln w="12700">
            <a:solidFill>
              <a:srgbClr val="00B7C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측정: 응시 등록·완료 현황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" y="3977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56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자격시험 합격률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4480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이상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2286000" y="5440680"/>
            <a:ext cx="3474720" cy="0"/>
          </a:xfrm>
          <a:prstGeom prst="line">
            <a:avLst/>
          </a:prstGeom>
          <a:noFill/>
          <a:ln w="12700">
            <a:solidFill>
              <a:srgbClr val="D83B0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86000" y="5486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측정: 시험 결과 집계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37033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92240" y="3977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</a:t>
            </a:r>
            <a:endParaRPr lang="en-US" sz="56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만족도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4480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/ 5.0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8046720" y="5440680"/>
            <a:ext cx="3474720" cy="0"/>
          </a:xfrm>
          <a:prstGeom prst="line">
            <a:avLst/>
          </a:prstGeom>
          <a:noFill/>
          <a:ln w="12700">
            <a:solidFill>
              <a:srgbClr val="107C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0" y="5486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측정: 과정 종료 후 조사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6263640"/>
            <a:ext cx="11247120" cy="274320"/>
          </a:xfrm>
          <a:prstGeom prst="roundRect">
            <a:avLst>
              <a:gd name="adj" fmla="val 1666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보고 체계 — 착수보고 → 주간 추진상황 (매주 금) → 결과보고 (종료 후 2주)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LMS 사용법 ① — 접속 및 기본 환경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㈜코리아에듀 자체 LMS 플랫폼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LMS 접속 주소
</a:t>
            </a:r>
            <a:pPr algn="ctr" indent="0" marL="0">
              <a:buNone/>
            </a:pPr>
            <a:r>
              <a:rPr lang="en-US" sz="32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www.coreaedu.com</a:t>
            </a:r>
            <a:pPr algn="ctr" indent="0" marL="0">
              <a:buNone/>
            </a:pPr>
            <a:r>
              <a:rPr lang="en-US" sz="17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(PC · 모바일 모두 지원)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2651760"/>
            <a:ext cx="914400" cy="9144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7452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657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접속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14400" y="4160520"/>
            <a:ext cx="283464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D-7 수강 안내 문자/메일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800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LMS 계정 일괄 생성 (학번)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초기 PW: 생년월일 YYMMDD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806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첫 로그인 → PW 변경 필수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43400" y="246888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2651760"/>
            <a:ext cx="914400" cy="91440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3657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입장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800600" y="4160520"/>
            <a:ext cx="2834640" cy="0"/>
          </a:xfrm>
          <a:prstGeom prst="line">
            <a:avLst/>
          </a:prstGeom>
          <a:noFill/>
          <a:ln w="12700">
            <a:solidFill>
              <a:srgbClr val="00B7C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LMS 공지 Zoom 단일 링크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800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매일 09:30 Zoom 오픈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09:55 입장 → 10:00 시작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806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이름: "학번_실명" 형식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0" y="2468880"/>
            <a:ext cx="3749040" cy="40233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46920" y="2651760"/>
            <a:ext cx="914400" cy="91440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46920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3657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출석 체크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8686800" y="4160520"/>
            <a:ext cx="2834640" cy="0"/>
          </a:xfrm>
          <a:prstGeom prst="line">
            <a:avLst/>
          </a:prstGeom>
          <a:noFill/>
          <a:ln w="12700">
            <a:solidFill>
              <a:srgbClr val="107C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58200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Zoom 리포트 자동 집계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458200" y="4800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→ LMS 일괄 업로드 (12~13시)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458200" y="5303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수기 출석 불필요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458200" y="5806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참가 시간 자동 산정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LMS 사용법 ② — 자가학습 콘텐츠 7종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32시간 중 14시간이 PC·모바일 어디서나 학습 가능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188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이론 영상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1188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출제영역별 6개 모듈 (AI 워크로드·책임AI·ML·생성형·에이전틱·Foundry)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149840" y="128016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149840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6시간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1847088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938528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18470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입문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184708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비전공자 대상 · 시험에 필요한 문법·SDK 호출 수준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149840" y="1938528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49840" y="19385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3시간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505456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596896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250545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실습 가이드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2505456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녹화 따라하기 영상 + 단계별 실습 매뉴얼(PDF)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149840" y="2596896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49840" y="25968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3시간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3163824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25526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316382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강의 다시보기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0" y="3163824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회차 녹화본 · 당일 13:00까지 업로드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149840" y="3255264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149840" y="325526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18시간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3822192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39136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436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1188720" y="3822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문제은행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3657600" y="38221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영역별 확인 퀴즈 + 실전 모의고사 2회분 · 문항별 해설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149840" y="3913632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149840" y="39136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300문항+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4480560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457200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436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1188720" y="4480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요약노트·용어집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3657600" y="44805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요약노트 · 한/영 대조 용어집 (영문 표기 대비)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0149840" y="457200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149840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57200" y="5138928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" y="5230368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94360" y="5230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</a:t>
            </a:r>
            <a:endParaRPr lang="en-US" sz="1700" dirty="0"/>
          </a:p>
        </p:txBody>
      </p:sp>
      <p:sp>
        <p:nvSpPr>
          <p:cNvPr id="54" name="Text 52"/>
          <p:cNvSpPr txBox="1"/>
          <p:nvPr/>
        </p:nvSpPr>
        <p:spPr>
          <a:xfrm>
            <a:off x="1188720" y="51389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공식 자료 연계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3657600" y="513892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Learn 학습 경로 · 공식 연습 평가 안내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10149840" y="5230368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149840" y="52303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링크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🆘 학습 지원 체계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막힐 때 어디로 연락해야 할까?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554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전담 튜터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학습·출석·진도 관리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질의 응답 전담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0" y="283464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600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카카오톡 오픈채팅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554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56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상시 Q&amp;A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1965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 오픈채팅 운영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당일 답변 원칙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283464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LMS 공지 링크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0690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56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원격 지원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4480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오류 발생 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보조강사 화면공유 지원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286000" y="534924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8600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Zoom 소회의실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37033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40690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</a:t>
            </a:r>
            <a:endParaRPr lang="en-US" sz="56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 당일 지원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4480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 헬프데스크 상시 대기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발생 시 즉시 재예약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46720" y="5349240"/>
            <a:ext cx="3566160" cy="457200"/>
          </a:xfrm>
          <a:prstGeom prst="roundRect">
            <a:avLst>
              <a:gd name="adj" fmla="val 20000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카카오톡·전화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6263640"/>
            <a:ext cx="11247120" cy="274320"/>
          </a:xfrm>
          <a:prstGeom prst="roundRect">
            <a:avLst>
              <a:gd name="adj" fmla="val 1666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혼자 고민하지 마세요 — 카카오톡 오픈채팅방에 바로 물어보세요!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AI-901 자격증 상세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공식 Azure AI Fundamentals (2026 개편)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2801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핵심: 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AI-901은 </a:t>
            </a:r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6월 폐지된 AI-900을 대체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신규 시험입니다.
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 이해 중심이던 기존과 달리 </a:t>
            </a:r>
            <a:pPr indent="0" marL="0">
              <a:buNone/>
            </a:pPr>
            <a:r>
              <a:rPr lang="en-US" sz="17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 기반 구현 역량 + 기초 Python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평가합니다.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517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 코드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2651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6517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6517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정식 명칭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651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 AI Fundamentals (2026 개편)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661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주관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3566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5661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5661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 방식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3566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감독시험 (OnVUE) · 테스트센터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4805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4480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응시비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468880" y="4480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22,000원 (본 과정 수납)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44805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44805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4480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유효기간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480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평생 유효 (만료 없음)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57200" y="53949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3949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5394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 인증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2468880" y="5394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Learn 공식 인증 · LinkedIn 공유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17920" y="5394960"/>
            <a:ext cx="5577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5394960"/>
            <a:ext cx="18288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0" y="5394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이후 자격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394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AI-102 (중급) 선수 과정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AI-901 시험 구조 — 2대 출제 영역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출제 비중의 55~60%가 Foundry 구현 실습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57784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381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5577840" cy="14630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 ①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691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 개념 및 역량 이해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219456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40~45%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8346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머신러닝 (ML)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회귀·분류·군집·지도/비지도·평가 지표</a:t>
            </a:r>
            <a:endParaRPr lang="en-US" sz="1600" dirty="0"/>
          </a:p>
          <a:p>
            <a:pPr indent="0" marL="0">
              <a:spcBef>
                <a:spcPts val="1600"/>
              </a:spcBef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생성형 AI (Generative AI)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LLM·토큰·프롬프트·임베딩·모델 카탈로그</a:t>
            </a:r>
            <a:endParaRPr lang="en-US" sz="1600" dirty="0"/>
          </a:p>
          <a:p>
            <a:pPr indent="0" marL="0">
              <a:spcBef>
                <a:spcPts val="1600"/>
              </a:spcBef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에이전틱 AI (Agentic AI) ★ 신규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도구 사용·지식 연결·다단계 작업</a:t>
            </a:r>
            <a:endParaRPr lang="en-US" sz="1600" dirty="0"/>
          </a:p>
          <a:p>
            <a:pPr indent="0" marL="0">
              <a:spcBef>
                <a:spcPts val="1600"/>
              </a:spcBef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책임 있는 AI (Responsible AI)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6원칙: 공정성·신뢰성·개인정보·포용성·투명성·책임성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557784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38100">
            <a:solidFill>
              <a:srgbClr val="D83B0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88720"/>
            <a:ext cx="5577840" cy="146304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 ②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691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Foundry 기반 AI 솔루션 구현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0" y="219456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55~60%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8346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Microsoft Foundry 플랫폼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프로젝트·엔드포인트·API 키·모델 카탈로그·배포</a:t>
            </a:r>
            <a:endParaRPr lang="en-US" sz="1600" dirty="0"/>
          </a:p>
          <a:p>
            <a:pPr indent="0" marL="0">
              <a:spcBef>
                <a:spcPts val="1600"/>
              </a:spcBef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플레이그라운드 운영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시스템 메시지·Temperature·안전성·가드레일</a:t>
            </a:r>
            <a:endParaRPr lang="en-US" sz="1600" dirty="0"/>
          </a:p>
          <a:p>
            <a:pPr indent="0" marL="0">
              <a:spcBef>
                <a:spcPts val="1600"/>
              </a:spcBef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Foundry 서비스 활용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텍스트·음성·비전·정보추출·이미지 생성</a:t>
            </a:r>
            <a:endParaRPr lang="en-US" sz="1600" dirty="0"/>
          </a:p>
          <a:p>
            <a:pPr indent="0" marL="0">
              <a:spcBef>
                <a:spcPts val="1600"/>
              </a:spcBef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Python SDK 모델 호출 ★ 코드 출제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Colab·엔드포인트·배포명·시험 코드 읽기/빈칸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영역별 출제 비중 (공식 기준)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과정은 Foundry 실습에 2주차 6시간 집중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33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188720"/>
          <a:ext cx="54864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217920" y="1188720"/>
            <a:ext cx="557784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280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본 과정의 대응 전략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0" y="1783080"/>
            <a:ext cx="5212080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20116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0" y="2011680"/>
            <a:ext cx="182880" cy="1234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7512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 ① AI 개념 (40~45%)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2606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1주차 이론 3회 (11/10·11/12) + 자가학습 모듈 6개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0" y="33832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9050">
            <a:solidFill>
              <a:srgbClr val="D83B0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3383280"/>
            <a:ext cx="182880" cy="123444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75120" y="3474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 ② Foundry 구현 (55~60%)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3977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2주차 실습 3회 (11/16·17·18) 실시간 집중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0" y="47548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0" y="4754880"/>
            <a:ext cx="182880" cy="123444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합격 관리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진단평가 → 모의고사 2회 → 취약영역 클리닉 → 응시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AI-901 문항 유형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객관식 중심 + Python 코드 읽기/빈칸 신규 포함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371600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선택 (Single Choice)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645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보기 중 정답 1개 선택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0" y="146304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0" y="1463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377440"/>
            <a:ext cx="548640" cy="54864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선택 (Multiple Choice)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26517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보기 중 정답 2~3개 모두 선택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0" y="246888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0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383280"/>
            <a:ext cx="548640" cy="54864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드래그 앤 드롭 (매칭·순서)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3657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수명주기 순서 배열 등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058400" y="347472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2062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B9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4389120"/>
            <a:ext cx="548640" cy="5486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28016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빈칸 채우기 / Hot Area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4663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드롭다운에서 올바른 용어 선택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058400" y="448056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0" y="4480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57200" y="52120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83B0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5394960"/>
            <a:ext cx="548640" cy="548640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436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128016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코드 읽기/빈칸 ★ 신규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1280160" y="5669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SDK 호출 코드 빈칸 완성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058400" y="5486400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058400" y="5486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합격 기준 및 응시 안내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700/1000점 (70%) · 온라인 감독시험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657600" cy="3017520"/>
          </a:xfrm>
          <a:prstGeom prst="roundRect">
            <a:avLst>
              <a:gd name="adj" fmla="val 4545"/>
            </a:avLst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  <a:effectLst>
            <a:outerShdw sx="100000" sy="100000" kx="0" ky="0" algn="bl" rotWithShape="0" blurRad="127000" dist="38100" dir="5400000">
              <a:srgbClr val="888888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합격 기준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9202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</a:t>
            </a:r>
            <a:endParaRPr lang="en-US" sz="1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1000점 (70%)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영역별 과락 없음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1188720"/>
            <a:ext cx="7315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11887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1887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 일시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18872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11/20(금) 4개 시간대 (10/12/14/16시)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1664208"/>
            <a:ext cx="7315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0560" y="16642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6642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시간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166420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45분 (안내 포함 65분)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89120" y="2139696"/>
            <a:ext cx="7315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21396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21396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 수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213969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40~60문항 (변동 가능)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89120" y="2615184"/>
            <a:ext cx="7315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80560" y="261518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261518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 방식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261518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OnVUE 온라인 감독 (본인 PC·웹캠·마이크)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89120" y="3090672"/>
            <a:ext cx="7315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80560" y="30906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4937760" y="30906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응시비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309067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22,000원 (가상계좌 · 과정 시작 전 수납)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89120" y="3566160"/>
            <a:ext cx="73152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80560" y="35661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4937760" y="35661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재응시 지원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35661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불합격자 재예약 지원 · 운영본부 안내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448056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E8F4FD"/>
          </a:solidFill>
          <a:ln w="25400">
            <a:solidFill>
              <a:srgbClr val="FFB9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응시 당일 플로우 (11/20)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48640" y="5120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신분증 준비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304288" y="5577840"/>
            <a:ext cx="137160" cy="27432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23160" y="5120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42316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251460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웹캠 환경 점검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178808" y="5577840"/>
            <a:ext cx="137160" cy="27432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97680" y="5120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9768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438912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감독관 체크인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053328" y="5577840"/>
            <a:ext cx="137160" cy="27432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72200" y="5120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17220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54" name="Text 52"/>
          <p:cNvSpPr txBox="1"/>
          <p:nvPr/>
        </p:nvSpPr>
        <p:spPr>
          <a:xfrm>
            <a:off x="626364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응시 (45분)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927848" y="5577840"/>
            <a:ext cx="137160" cy="27432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0" y="5120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04672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58" name="Text 56"/>
          <p:cNvSpPr txBox="1"/>
          <p:nvPr/>
        </p:nvSpPr>
        <p:spPr>
          <a:xfrm>
            <a:off x="813816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결과 확인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9802368" y="5577840"/>
            <a:ext cx="137160" cy="274320"/>
          </a:xfrm>
          <a:prstGeom prst="chevron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21240" y="51206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92124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62" name="Text 60"/>
          <p:cNvSpPr txBox="1"/>
          <p:nvPr/>
        </p:nvSpPr>
        <p:spPr>
          <a:xfrm>
            <a:off x="1001268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프로필 등록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사전 진단평가 안내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지금부터 15분 · 20문항 · 자기 응시 (점수 영향 없음)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2801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왜 사전 진단을 하나요?
</a:t>
            </a:r>
            <a:pPr indent="0" marL="0">
              <a:buNone/>
            </a:pPr>
            <a:r>
              <a:rPr lang="en-US" sz="1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수강생 수준을 미리 파악해 </a:t>
            </a:r>
            <a:pPr indent="0" marL="0">
              <a:buNone/>
            </a:pPr>
            <a:r>
              <a:rPr lang="en-US" sz="16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맞춤형 학습 전략</a:t>
            </a:r>
            <a:pPr indent="0" marL="0">
              <a:buNone/>
            </a:pPr>
            <a:r>
              <a:rPr lang="en-US" sz="1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짭니다.
</a:t>
            </a:r>
            <a:pPr indent="0" marL="0">
              <a:buNone/>
            </a:pPr>
            <a:r>
              <a:rPr lang="en-US" sz="1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정답/오답은 수료 평가에 </a:t>
            </a:r>
            <a:pPr indent="0" marL="0">
              <a:buNone/>
            </a:pPr>
            <a:r>
              <a:rPr lang="en-US" sz="16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전혀 반영되지 않습니다</a:t>
            </a:r>
            <a:pPr indent="0" marL="0">
              <a:buNone/>
            </a:pPr>
            <a:r>
              <a:rPr lang="en-US" sz="16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편안하게 체크하세요!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26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520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문항 수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40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20문항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37560" y="28346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2926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520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응시 시간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840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15분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17920" y="28346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926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520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난이도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840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입문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98280" y="28346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98280" y="29260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3520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합격 기준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3840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 (진단용)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448056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진단 영역 분포 (AI-901 기준)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8FB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120640"/>
            <a:ext cx="2651760" cy="365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Q1~5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577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기본 개념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989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5문항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383280" y="512064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8FBFF"/>
          </a:solidFill>
          <a:ln w="19050">
            <a:solidFill>
              <a:srgbClr val="00B7C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5120640"/>
            <a:ext cx="2651760" cy="365760"/>
          </a:xfrm>
          <a:prstGeom prst="rect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8328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Q6~10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383280" y="5577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Foundry·서비스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3383280" y="5989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5문항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17920" y="512064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8FBFF"/>
          </a:solidFill>
          <a:ln w="19050">
            <a:solidFill>
              <a:srgbClr val="D83B0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5120640"/>
            <a:ext cx="2651760" cy="36576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Q11~15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5577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생성형·에이전틱 AI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217920" y="5989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5문항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052560" y="5120640"/>
            <a:ext cx="2651760" cy="1280160"/>
          </a:xfrm>
          <a:prstGeom prst="roundRect">
            <a:avLst>
              <a:gd name="adj" fmla="val 3571"/>
            </a:avLst>
          </a:prstGeom>
          <a:solidFill>
            <a:srgbClr val="F8FB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52560" y="5120640"/>
            <a:ext cx="2651760" cy="36576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5256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Q16~20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9052560" y="5577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책임AI·Python 기초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9052560" y="5989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5문항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사전 진단평가 — Q1~5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LMS에서 자기 응시 · 정답은 S30에서 확인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88720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1704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AI(인공지능)와 ML(머신러닝)의 관계로 올바른 것은?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600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ML ⊂ AI (ML은 AI의 하위)    B. AI ⊂ ML    C. AI = ML    D. 서로 무관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167128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58568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240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 학습(Supervised Learning)의 대표 사례는?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고객 그룹 자동 분류    B. 스팸/정상 메일 분류 (레이블 있음)    C. 게임 AI 보상 학습    D. 차원 축소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28416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101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회귀(Regression) 문제의 예시는?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739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이메일 스팸/정상 판정    B. 내일 주택 가격 예측    C. 고객 세그먼트 분류    D. 얼굴 인식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306824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98264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37997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머신러닝의 "과적합(Overfitting)"이란?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8097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학습·검증 모두 잘 작동    B. 모델이 너무 단순함    C. 학습 데이터에만 과도하게 적합    D. 네트워크 지연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5376672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468112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5468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544982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중 비지도 학습(Unsupervised Learning)의 예시는?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5879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회귀 예측    B. 분류 (레이블 有)    C. 군집화 (K-Means)    D. 강화 학습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사전 진단평가 — Q6~10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LMS에서 자기 응시 · 정답은 S30에서 확인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88720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1704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Foundry에서 "모델을 호출하기 위한 고유 주소"는?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600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프로젝트 이름    B. 엔드포인트 (Endpoint)    C. 구독 ID    D. 리소스 그룹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167128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58568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240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이미지에서 텍스트를 추출하는 Azure AI 서비스는?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Azure AI Translator    B. Azure AI Vision (OCR)    C. Azure AI Speech    D. Azure Bot Service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28416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101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"Model Catalog(모델 카탈로그)"의 역할은?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739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VM 가격표    B. 배포 가능한 모델 목록·비교 제공    C. 사용자 관리    D. 네트워크 모니터링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306824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98264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37997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Playground에서 응답의 "창의성"을 조절하는 파라미터는?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8097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Max Tokens    B. Top-P    C. Temperature    D. Stop Sequence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5376672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468112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5468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544982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문서·양식에서 구조화된 정보를 추출하는 Azure 서비스는?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5879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Azure AI Vision    B. Azure AI Document Intelligence    C. Azure AI Speech    D. Azure Translator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사전 진단평가 — Q11~15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LMS에서 자기 응시 · 정답은 S30에서 확인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88720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1704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AI(Generative AI)의 핵심 특징은?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600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데이터 분류만 수행    B. 새로운 콘텐츠 생성 (텍스트·이미지)    C. 수치 예측 전용    D. 하드웨어 제어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167128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58568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240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LLM의 "토큰(Token)"에 대한 올바른 설명은?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네트워크 접속 키    B. LLM이 다루는 텍스트의 기본 단위    C. 사용자 비밀번호    D. 서버 응답 시간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28416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101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"프롬프트 엔지니어링(Prompt Engineering)"의 목적은?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739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네트워크 보안    B. LLM이 원하는 응답을 하도록 입력 설계    C. 서버 성능 향상    D. UI 디자인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306824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98264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37997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"에이전트(Agent)"가 일반 챗봇과 다른 점은?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8097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한국어만 지원    B. 도구 사용·외부 지식 연결·다단계 작업 수행    C. 응답이 느림    D. 보안이 강함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5376672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468112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5468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544982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LLM의 "환각(Hallucination)" 현상이란?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5879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응답 속도 저하    B. 사실이 아닌 그럴듯한 내용 생성    C. 네트워크 오류    D. 모델 종료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사전 진단평가 — Q16~20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LMS에서 자기 응시 · 정답은 S30에서 확인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88720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1704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"책임 있는 AI" 6원칙에 해당하지 않는 것은?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600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공정성 (Fairness)    B. 투명성 (Transparency)    C. 수익성 (Profitability)    D. 포용성 (Inclusiveness)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167128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58568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240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"공정성(Fairness)" 원칙이 가장 중요한 AI 활용 사례는?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날씨 예측    B. 채용 지원자 자동 평가    C. 게임 NPC AI    D. 이미지 색 보정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28416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101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Python에서 리스트의 첫 번째 요소에 접근하는 올바른 코드는?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7398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list[1]    B. list(0)    C. list[0]    D. list.first()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306824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98264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4398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37997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서비스를 Python에서 호출할 때 반드시 필요한 것은?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8097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VM 인스턴스    B. 엔드포인트 + API 키    C. 전용 데이터센터    D. Office 라이선스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5376672"/>
            <a:ext cx="11430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468112"/>
            <a:ext cx="548640" cy="5486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5468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544982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응답에서 "result" 키의 값을 꺼내는 Python 코드는?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58795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response.result    B. response["result"]    C. response(result)    D. response-&gt;result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사전 진단평가 정답표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해설은 자가학습 "요약노트" 참조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9728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" y="1097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65960" y="114300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65960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554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상위 · ML/DL/GenAI 하위 집합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97480" y="109728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109728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97480" y="1097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97680" y="114300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7680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1554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레이블 있음 → 지도 학습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109728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109728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0" y="1097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114300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1554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연속값 예측 = 회귀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60920" y="109728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109728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60920" y="1097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961120" y="114300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61120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1554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 = 학습 데이터에만 과도 적합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09728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0" y="109728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92640" y="1097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1292840" y="114300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1292840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784080" y="1554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레이블 없음 → 군집화·차원 축소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242316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242316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576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965960" y="246888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6596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엔드포인트 = 모델 호출 고유 주소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697480" y="242316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97480" y="242316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69748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297680" y="246888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9768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278892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Vision의 OCR 기능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0" y="242316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0" y="242316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02920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629400" y="246888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62940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512064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카탈로그 = 배포 전 비교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360920" y="242316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60920" y="242316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36092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8961120" y="246888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96112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745236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높을수록 창의적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692640" y="242316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92640" y="242316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69264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11292840" y="246888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129284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68" name="Text 66"/>
          <p:cNvSpPr txBox="1"/>
          <p:nvPr/>
        </p:nvSpPr>
        <p:spPr>
          <a:xfrm>
            <a:off x="9784080" y="28803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 = 문서 추출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65760" y="37490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5760" y="374904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6576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1965960" y="379476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96596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4206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= 새 콘텐츠 생성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697480" y="37490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97480" y="374904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269748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4297680" y="379476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29768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80" name="Text 78"/>
          <p:cNvSpPr txBox="1"/>
          <p:nvPr/>
        </p:nvSpPr>
        <p:spPr>
          <a:xfrm>
            <a:off x="2788920" y="4206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= LLM 텍스트 기본 단위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029200" y="37490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29200" y="374904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02920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6629400" y="379476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62940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86" name="Text 84"/>
          <p:cNvSpPr txBox="1"/>
          <p:nvPr/>
        </p:nvSpPr>
        <p:spPr>
          <a:xfrm>
            <a:off x="5120640" y="4206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= LLM에 주는 지시문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7360920" y="37490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360920" y="374904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36092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</a:t>
            </a:r>
            <a:endParaRPr lang="en-US" sz="1500" dirty="0"/>
          </a:p>
        </p:txBody>
      </p:sp>
      <p:sp>
        <p:nvSpPr>
          <p:cNvPr id="90" name="Shape 88"/>
          <p:cNvSpPr/>
          <p:nvPr/>
        </p:nvSpPr>
        <p:spPr>
          <a:xfrm>
            <a:off x="8961120" y="379476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96112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92" name="Text 90"/>
          <p:cNvSpPr txBox="1"/>
          <p:nvPr/>
        </p:nvSpPr>
        <p:spPr>
          <a:xfrm>
            <a:off x="7452360" y="4206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= 도구+지식+다단계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9692640" y="374904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692640" y="374904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969264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11292840" y="379476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129284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98" name="Text 96"/>
          <p:cNvSpPr txBox="1"/>
          <p:nvPr/>
        </p:nvSpPr>
        <p:spPr>
          <a:xfrm>
            <a:off x="9784080" y="4206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환각 = 그럴듯하지만 틀린 답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365760" y="507492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5760" y="507492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36576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</a:t>
            </a:r>
            <a:endParaRPr lang="en-US" sz="1500" dirty="0"/>
          </a:p>
        </p:txBody>
      </p:sp>
      <p:sp>
        <p:nvSpPr>
          <p:cNvPr id="102" name="Shape 100"/>
          <p:cNvSpPr/>
          <p:nvPr/>
        </p:nvSpPr>
        <p:spPr>
          <a:xfrm>
            <a:off x="1965960" y="512064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96596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104" name="Text 102"/>
          <p:cNvSpPr txBox="1"/>
          <p:nvPr/>
        </p:nvSpPr>
        <p:spPr>
          <a:xfrm>
            <a:off x="457200" y="5532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6원칙에 수익성은 없음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2697480" y="507492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697480" y="507492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269748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</a:t>
            </a:r>
            <a:endParaRPr lang="en-US" sz="1500" dirty="0"/>
          </a:p>
        </p:txBody>
      </p:sp>
      <p:sp>
        <p:nvSpPr>
          <p:cNvPr id="108" name="Shape 106"/>
          <p:cNvSpPr/>
          <p:nvPr/>
        </p:nvSpPr>
        <p:spPr>
          <a:xfrm>
            <a:off x="4297680" y="512064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429768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110" name="Text 108"/>
          <p:cNvSpPr txBox="1"/>
          <p:nvPr/>
        </p:nvSpPr>
        <p:spPr>
          <a:xfrm>
            <a:off x="2788920" y="5532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영향 큰 결정 → 공정성 핵심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5029200" y="507492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029200" y="507492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502920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</a:t>
            </a:r>
            <a:endParaRPr lang="en-US" sz="1500" dirty="0"/>
          </a:p>
        </p:txBody>
      </p:sp>
      <p:sp>
        <p:nvSpPr>
          <p:cNvPr id="114" name="Shape 112"/>
          <p:cNvSpPr/>
          <p:nvPr/>
        </p:nvSpPr>
        <p:spPr>
          <a:xfrm>
            <a:off x="6629400" y="512064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662940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116" name="Text 114"/>
          <p:cNvSpPr txBox="1"/>
          <p:nvPr/>
        </p:nvSpPr>
        <p:spPr>
          <a:xfrm>
            <a:off x="5120640" y="5532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인덱스는 0부터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7360920" y="507492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360920" y="507492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736092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</a:t>
            </a:r>
            <a:endParaRPr lang="en-US" sz="1500" dirty="0"/>
          </a:p>
        </p:txBody>
      </p:sp>
      <p:sp>
        <p:nvSpPr>
          <p:cNvPr id="120" name="Shape 118"/>
          <p:cNvSpPr/>
          <p:nvPr/>
        </p:nvSpPr>
        <p:spPr>
          <a:xfrm>
            <a:off x="8961120" y="512064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96112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122" name="Text 120"/>
          <p:cNvSpPr txBox="1"/>
          <p:nvPr/>
        </p:nvSpPr>
        <p:spPr>
          <a:xfrm>
            <a:off x="7452360" y="5532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엔드포인트 + 키 조합 필수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9692640" y="5074920"/>
            <a:ext cx="2240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07C4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692640" y="5074920"/>
            <a:ext cx="224028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969264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</a:t>
            </a:r>
            <a:endParaRPr lang="en-US" sz="1500" dirty="0"/>
          </a:p>
        </p:txBody>
      </p:sp>
      <p:sp>
        <p:nvSpPr>
          <p:cNvPr id="126" name="Shape 124"/>
          <p:cNvSpPr/>
          <p:nvPr/>
        </p:nvSpPr>
        <p:spPr>
          <a:xfrm>
            <a:off x="11292840" y="5120640"/>
            <a:ext cx="548640" cy="27432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11292840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128" name="Text 126"/>
          <p:cNvSpPr txBox="1"/>
          <p:nvPr/>
        </p:nvSpPr>
        <p:spPr>
          <a:xfrm>
            <a:off x="9784080" y="553212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 접근: dict["key"]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수준별 학습 전략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 점수로 본인 트랙 확인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31750">
            <a:solidFill>
              <a:srgbClr val="107C4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3749040" cy="1645920"/>
          </a:xfrm>
          <a:prstGeom prst="rect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입문자 (0~35%)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06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0~7점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Action Plan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자가학습 모듈 전편 시청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매일 10문항 암기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튜터 1:1 질의 적극 활용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동영상 1.0배속부터 시작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21208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212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11/13 1차 모의 65점+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434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31750">
            <a:solidFill>
              <a:srgbClr val="FFB900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1188720"/>
            <a:ext cx="3749040" cy="16459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4340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중급자 (40~70%)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2606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8~14점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Action Plan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실습 중심 (Foundry 집중)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6177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약점 영역 집중 복습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문제은행 300문항 완독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61772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동료 학습 그룹 참여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17720" y="521208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17720" y="5212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11/19 2차 모의 85점+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229600" y="118872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31750">
            <a:solidFill>
              <a:srgbClr val="D83B01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0" y="1188720"/>
            <a:ext cx="3749040" cy="16459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0" y="12801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44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2377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고급자 (75~100%)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2606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15~20점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5039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Action Plan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50392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Foundry 심화 (SDK·에이전트)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5039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동료 멘토 역할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50392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실무 사례 연구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503920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AI-102 선행 학습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503920" y="521208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503920" y="5212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AI-901 만점 + AI-102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Azure 계정 D-7 캡처 제출 (필수!)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11/2(월)까지 완료 — Foundry 승인 대기 1~3일 고려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0" y="274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· 1주차 · 11/9(월) 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664768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AI-901 Azure AI Fundamentals 2주 완성 합격과정 · ㈜코리아에듀 x 국민대학교 교양대학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647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2801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왜 7일 전인가?
</a:t>
            </a:r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for Students 승인에 평균 1~3일 소요됩니다.
</a:t>
            </a:r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후 Microsoft Foundry 포털 접속·첫 프로젝트 생성까지 추가 1~2일!
</a:t>
            </a:r>
            <a:pPr indent="0" marL="0">
              <a:buNone/>
            </a:pPr>
            <a:r>
              <a:rPr lang="en-US" sz="16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11/9(월) 실습 환경 세팅 세션에 맞추려면 </a:t>
            </a:r>
            <a:pPr indent="0" marL="0">
              <a:buNone/>
            </a:pPr>
            <a:r>
              <a:rPr lang="en-US" sz="17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11/2(월)까지 완료 + 캡처 제출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417320" y="3017520"/>
            <a:ext cx="777240" cy="77724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for Students 가입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azure.microsoft.com/students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9834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 이메일(.ac.kr)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인증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카드 등록 불필요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283464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00B7C3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3017520"/>
            <a:ext cx="777240" cy="777240"/>
          </a:xfrm>
          <a:prstGeom prst="ellipse">
            <a:avLst/>
          </a:prstGeom>
          <a:solidFill>
            <a:srgbClr val="00B7C3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 포털 접속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11880" y="452628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00B7C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1188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ai.azure.com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49834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계정으로 로그인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첫 프로젝트 생성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283464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107C41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78040" y="3017520"/>
            <a:ext cx="777240" cy="777240"/>
          </a:xfrm>
          <a:prstGeom prst="ellipse">
            <a:avLst/>
          </a:prstGeom>
          <a:solidFill>
            <a:srgbClr val="107C41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7804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대시보드 캡처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92240" y="452628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107C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스크린샷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49834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 로그인 ID 보이게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(우측 상단 프로필 포함)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098280" y="283464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FFB9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058400" y="3017520"/>
            <a:ext cx="777240" cy="777240"/>
          </a:xfrm>
          <a:prstGeom prst="ellipse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5840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3931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과제 제출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372600" y="4526280"/>
            <a:ext cx="2148840" cy="365760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37260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coreaedu.com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235440" y="49834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학번_이름_Azure인증.png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[사전과제] → 업로드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12161520" cy="73152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11/9(월) OT · 1교시 종료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이제 2주 뒤의 당신을 만나러 갑시다 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잠시 10분 휴식 후 2교시 실습 환경 세팅 이어집니다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5577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108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쉬는 시간 (10:50~11:00) 할 일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521208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74904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Azure for Students 가입 페이지 열기
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→ azure.microsoft.com/students
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학교 이메일 로그인 화면 준비
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보조강사 Zoom 소회의실 안내 예정
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질문은 Zoom 채팅 또는 오픈채팅으로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017520"/>
            <a:ext cx="54864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FF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3108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11/10(화) 2강 예고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0" y="3611880"/>
            <a:ext cx="5120640" cy="0"/>
          </a:xfrm>
          <a:prstGeom prst="line">
            <a:avLst/>
          </a:prstGeom>
          <a:noFill/>
          <a:ln w="19050">
            <a:solidFill>
              <a:srgbClr val="FFB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7490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AI 워크로드 이해 + Foundry 기능 탐색
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AI·ML·DL·생성형 AI 관계 / 6대 워크로드
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책임 있는 AI 6원칙 상세
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공정성·신뢰성·개인정보·포용성·투명성·책임성
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자가학습 (오늘 중): 이론 모듈 1·2 + 확인퀴즈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6263640"/>
            <a:ext cx="11247120" cy="274320"/>
          </a:xfrm>
          <a:prstGeom prst="roundRect">
            <a:avLst>
              <a:gd name="adj" fmla="val 1666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질문은 Zoom 채팅창 · 카카오톡 오픈채팅 · LMS Q&amp;A — 어디든 환영합니다!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코리아에듀 x 국민대학교 교양대학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AI-901 오리엔테이션 v2 (동기부여 강화)</dc:title>
  <dc:subject>PptxGenJS Presentation</dc:subject>
  <dc:creator>SJK</dc:creator>
  <cp:lastModifiedBy>SJK</cp:lastModifiedBy>
  <cp:revision>1</cp:revision>
  <dcterms:created xsi:type="dcterms:W3CDTF">2026-10-26T13:08:30Z</dcterms:created>
  <dcterms:modified xsi:type="dcterms:W3CDTF">2026-10-26T13:08:30Z</dcterms:modified>
</cp:coreProperties>
</file>