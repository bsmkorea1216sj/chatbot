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3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6181B"/>
                </a:solidFill>
                <a:latin typeface="Malgun Gothic"/>
              </a:defRPr>
            </a:pPr>
            <a:r>
              <a:rPr sz="1200" b="0" i="0" u="none" strike="noStrike">
                <a:solidFill>
                  <a:srgbClr val="16181B"/>
                </a:solidFill>
                <a:latin typeface="Malgun Gothic"/>
              </a:rPr>
              <a:t>국내 AICC 시장 규모 (억 원) · CAGR 23.7%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국내 AICC 시장</c:v>
                </c:pt>
              </c:strCache>
            </c:strRef>
          </c:tx>
          <c:spPr>
            <a:solidFill>
              <a:srgbClr val="8C2F39"/>
            </a:solidFill>
            <a:ln w="38100" cap="flat">
              <a:solidFill>
                <a:srgbClr val="8C2F3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B4044"/>
                    </a:solidFill>
                    <a:latin typeface="Cambria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8C2F39"/>
              </a:solidFill>
              <a:ln w="9525" cap="flat">
                <a:solidFill>
                  <a:srgbClr val="8C2F3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2022</c:v>
                  </c:pt>
                  <c:pt idx="2">
                    <c:v>2024</c:v>
                  </c:pt>
                  <c:pt idx="3">
                    <c:v>2026</c:v>
                  </c:pt>
                  <c:pt idx="4">
                    <c:v>2028</c:v>
                  </c:pt>
                  <c:pt idx="5">
                    <c:v>2030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560</c:v>
                </c:pt>
                <c:pt idx="1">
                  <c:v>857</c:v>
                </c:pt>
                <c:pt idx="2">
                  <c:v>1311</c:v>
                </c:pt>
                <c:pt idx="3">
                  <c:v>2006</c:v>
                </c:pt>
                <c:pt idx="4">
                  <c:v>3069</c:v>
                </c:pt>
                <c:pt idx="5">
                  <c:v>4697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B4044"/>
                  </a:solidFill>
                  <a:latin typeface="Cambria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E72"/>
                </a:solidFill>
                <a:latin typeface="Cambri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600"/>
        </c:scaling>
        <c:delete val="0"/>
        <c:axPos val="l"/>
        <c:majorGridlines>
          <c:spPr>
            <a:ln w="12700" cap="flat">
              <a:solidFill>
                <a:srgbClr val="E6E5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E72"/>
                </a:solidFill>
                <a:latin typeface="Cambria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총매출</c:v>
                </c:pt>
              </c:strCache>
            </c:strRef>
          </c:tx>
          <c:spPr>
            <a:solidFill>
              <a:srgbClr val="8C2F39"/>
            </a:solidFill>
            <a:effectLst/>
          </c:spPr>
          <c:invertIfNegative val="0"/>
          <c:dLbls>
            <c:numFmt formatCode="#,##0.#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6181B"/>
                    </a:solidFill>
                    <a:latin typeface="Cambria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Y1 ’27</c:v>
                  </c:pt>
                  <c:pt idx="1">
                    <c:v>Y2 ’28</c:v>
                  </c:pt>
                  <c:pt idx="2">
                    <c:v>Y3 ’29</c:v>
                  </c:pt>
                  <c:pt idx="3">
                    <c:v>Y4 ’30</c:v>
                  </c:pt>
                  <c:pt idx="4">
                    <c:v>Y5 ’31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9.5</c:v>
                </c:pt>
                <c:pt idx="1">
                  <c:v>32</c:v>
                </c:pt>
                <c:pt idx="2">
                  <c:v>78</c:v>
                </c:pt>
                <c:pt idx="3">
                  <c:v>152</c:v>
                </c:pt>
                <c:pt idx="4">
                  <c:v>260</c:v>
                </c:pt>
              </c:numCache>
            </c:numRef>
          </c:val>
        </c:ser>
        <c:dLbls>
          <c:numFmt formatCode="#,##0.#" sourceLinked="0"/>
          <c:txPr>
            <a:bodyPr/>
            <a:lstStyle/>
            <a:p>
              <a:pPr>
                <a:defRPr b="0" i="0" strike="noStrike" sz="1000" u="none">
                  <a:solidFill>
                    <a:srgbClr val="16181B"/>
                  </a:solidFill>
                  <a:latin typeface="Cambri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영업이익</c:v>
                </c:pt>
              </c:strCache>
            </c:strRef>
          </c:tx>
          <c:spPr>
            <a:solidFill>
              <a:srgbClr val="1E6A5B"/>
            </a:solidFill>
            <a:ln w="38100" cap="flat">
              <a:solidFill>
                <a:srgbClr val="1E6A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E6A5B"/>
              </a:solidFill>
              <a:ln w="9525" cap="flat">
                <a:solidFill>
                  <a:srgbClr val="1E6A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Y1 ’27</c:v>
                  </c:pt>
                  <c:pt idx="1">
                    <c:v>Y2 ’28</c:v>
                  </c:pt>
                  <c:pt idx="2">
                    <c:v>Y3 ’29</c:v>
                  </c:pt>
                  <c:pt idx="3">
                    <c:v>Y4 ’30</c:v>
                  </c:pt>
                  <c:pt idx="4">
                    <c:v>Y5 ’31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-8</c:v>
                </c:pt>
                <c:pt idx="1">
                  <c:v>-6</c:v>
                </c:pt>
                <c:pt idx="2">
                  <c:v>4</c:v>
                </c:pt>
                <c:pt idx="3">
                  <c:v>28</c:v>
                </c:pt>
                <c:pt idx="4">
                  <c:v>62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E72"/>
                </a:solidFill>
                <a:latin typeface="Cambri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"/>
          <c:min val="-40"/>
        </c:scaling>
        <c:delete val="0"/>
        <c:axPos val="l"/>
        <c:majorGridlines>
          <c:spPr>
            <a:ln w="12700" cap="flat">
              <a:solidFill>
                <a:srgbClr val="E6E5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E72"/>
                </a:solidFill>
                <a:latin typeface="Cambria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3B4044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자금 사용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C2F39"/>
              </a:solidFill>
              <a:effectLst/>
            </c:spPr>
          </c:dPt>
          <c:dPt>
            <c:idx val="1"/>
            <c:bubble3D val="0"/>
            <c:spPr>
              <a:solidFill>
                <a:srgbClr val="B05A62"/>
              </a:solidFill>
              <a:effectLst/>
            </c:spPr>
          </c:dPt>
          <c:dPt>
            <c:idx val="2"/>
            <c:bubble3D val="0"/>
            <c:spPr>
              <a:solidFill>
                <a:srgbClr val="C98A90"/>
              </a:solidFill>
              <a:effectLst/>
            </c:spPr>
          </c:dPt>
          <c:dPt>
            <c:idx val="3"/>
            <c:bubble3D val="0"/>
            <c:spPr>
              <a:solidFill>
                <a:srgbClr val="8E9AA0"/>
              </a:solidFill>
              <a:effectLst/>
            </c:spPr>
          </c:dPt>
          <c:dPt>
            <c:idx val="4"/>
            <c:bubble3D val="0"/>
            <c:spPr>
              <a:solidFill>
                <a:srgbClr val="5C6166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950" b="0" i="0" u="none" strike="noStrike">
                      <a:solidFill>
                        <a:srgbClr val="FFFFFF"/>
                      </a:solidFill>
                      <a:latin typeface="Cambria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950" b="0" i="0" u="none" strike="noStrike">
                      <a:solidFill>
                        <a:srgbClr val="FFFFFF"/>
                      </a:solidFill>
                      <a:latin typeface="Cambria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950" b="0" i="0" u="none" strike="noStrike">
                      <a:solidFill>
                        <a:srgbClr val="FFFFFF"/>
                      </a:solidFill>
                      <a:latin typeface="Cambria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950" b="0" i="0" u="none" strike="noStrike">
                      <a:solidFill>
                        <a:srgbClr val="FFFFFF"/>
                      </a:solidFill>
                      <a:latin typeface="Cambria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0&quot;%&quot;" sourceLinked="0"/>
              <c:spPr/>
              <c:txPr>
                <a:bodyPr/>
                <a:lstStyle/>
                <a:p>
                  <a:pPr>
                    <a:defRPr sz="950" b="0" i="0" u="none" strike="noStrike">
                      <a:solidFill>
                        <a:srgbClr val="FFFFFF"/>
                      </a:solidFill>
                      <a:latin typeface="Cambria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제품·R&amp;D</c:v>
                </c:pt>
                <c:pt idx="1">
                  <c:v>영업·마케팅</c:v>
                </c:pt>
                <c:pt idx="2">
                  <c:v>클라우드 인프라</c:v>
                </c:pt>
                <c:pt idx="3">
                  <c:v>파트너 네트워크</c:v>
                </c:pt>
                <c:pt idx="4">
                  <c:v>인증·법무·예비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45</c:v>
                </c:pt>
                <c:pt idx="1">
                  <c:v>25</c:v>
                </c:pt>
                <c:pt idx="2">
                  <c:v>12</c:v>
                </c:pt>
                <c:pt idx="3">
                  <c:v>10</c:v>
                </c:pt>
                <c:pt idx="4">
                  <c:v>8</c:v>
                </c:pt>
              </c:numCache>
            </c:numRef>
          </c:val>
        </c:ser>
        <c:firstSliceAng val="0"/>
        <c:holeSize val="52"/>
      </c:doughnutChart>
      <c:spPr>
        <a:solidFill>
          <a:srgbClr val="16181B"/>
        </a:solidFill>
        <a:ln>
          <a:noFill/>
        </a:ln>
        <a:effectLst/>
      </c:spPr>
    </c:plotArea>
    <c:plotVisOnly val="1"/>
    <c:dispBlanksAs val="span"/>
  </c:chart>
  <c:spPr>
    <a:solidFill>
      <a:srgbClr val="16181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핵심 메시지: 챗봇을 인프라(ISP)로 공급하고 앱을 파트너에게 분양하는 B2B2B 구조. 조달 30억, Post 150억.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수요·공급·정책·원가 네 축으로 타이밍을 설명. 오른쪽 스탯 3개는 심사역이 기억할 숫자.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 사분면(우상단)이 BSM의 진입 지점. 정확도를 포기하지 않으면서 가격·개통 속도를 확보하는 것이 제품 요구사항.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BSM의 기존 3개 채널이 왜 챗봇 사업의 자산인지 설명. 실측 수치(방문자·구독자·매출)는 IR 제출 전 반영 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AICC는 콜센터 대체 시장만 잡은 보수적 지표. 전체 AI/생성형 AI 시장 성장률이 실제 확장 여력을 보여준다.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SOM을 매출이 아니라 '파트너 1곳이 월 몇 건 파는가'로 환산해 실현 가능성을 보여주는 것이 핵심.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동급 챗봇을 만드는 회사는 많지만 전국 파트너가 분양받아 파는 챗봇은 없다 — 이것이 경쟁 우위의 본질.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감사로그·근거인용·국내 리전은 글로벌 SaaS와 DIY가 단기간에 맞추기 어려운 요건 — 공공·금융·의료 진입의 전제조건.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이원화가 핵심. Hot은 지연, Cold는 원가와 정본. 하이브리드 검색은 한국어 실무 문서의 정확 매칭 실패를 제거한다.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투자 논리의 심장. 왜 남들이 못 하는 가격이 우리에게 가능한가에 대한 구조적 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정확도를 SLA로 계약화할 수 있다는 점이 DIY·범용 챗봇과의 결정적 차이.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Pro가 주력 플랜. 개통비는 파트너 수익의 큰 축이며 온보딩 품질을 담보하는 장치이기도 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분양은 자금 조달(선수금)과 유통(CAC 이전), 온보딩 노동 분산을 동시에 해결. 리스크 통제 장치를 먼저 말할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LTV/CAC 10.5배의 원인은 파트너 구조 그 자체 — 제품이 아니라 유통 설계에서 나온 숫자임을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KPI가 2차 투자금 집행 조건과 동일 — 투자자 입장에서 검증 지점이 명확하다.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3차년도 흑자 전환. BEP 시점에 6개월 버퍼가 남는 조달 규모이며 이후 자체 현금흐름으로 성장.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2단계 집행으로 투자자 리스크를 낮춘다. 2차 집행 KPI가 Phase 1 종료 조건과 동일.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리스크를 숨기지 않고 대응책과 함께 제시. 특히 분양 모델 리스크는 먼저 꺼내는 것이 신뢰를 만든다.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마무리. 남은 것은 회사 실측 데이터 10건. 이것만 채우면 즉시 IR 제출 가능한 상태.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60120"/>
            <a:ext cx="118872" cy="118872"/>
          </a:xfrm>
          <a:prstGeom prst="rect">
            <a:avLst/>
          </a:prstGeom>
          <a:solidFill>
            <a:srgbClr val="D9848D"/>
          </a:solidFill>
          <a:ln w="12700">
            <a:solidFill>
              <a:srgbClr val="D9848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77824" y="8595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D984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 유치 계획서   ·   PRE-SERIES A   ·   2026.09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8778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챗봇을 회선처럼,</a:t>
            </a:r>
            <a:endParaRPr lang="en-US" sz="52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앱을 분양처럼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364992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C9C7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BSM은 GCP 위에서 동작하는 하이브리드 RAG 챗봇 엔진을 멀티테넌트 인프라로 운영하고,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C9C7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업종·지역 단위 파트너에게 챗봇 앱을 분양하여 유통하는 B2B2B AI 서비스 기업입니다.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443984"/>
            <a:ext cx="10908792" cy="0"/>
          </a:xfrm>
          <a:prstGeom prst="line">
            <a:avLst/>
          </a:prstGeom>
          <a:noFill/>
          <a:ln w="12700">
            <a:solidFill>
              <a:srgbClr val="3A3D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46268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8E8B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조달 목표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8737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30억 원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2943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8B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18억 / 2차 12억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12110" y="4590288"/>
            <a:ext cx="0" cy="987552"/>
          </a:xfrm>
          <a:prstGeom prst="line">
            <a:avLst/>
          </a:prstGeom>
          <a:noFill/>
          <a:ln w="12700">
            <a:solidFill>
              <a:srgbClr val="3A3D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21838" y="46268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8E8B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기업가치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2821838" y="48737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150억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2821838" y="52943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8B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Pre-money 120억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93869" y="4590288"/>
            <a:ext cx="0" cy="987552"/>
          </a:xfrm>
          <a:prstGeom prst="line">
            <a:avLst/>
          </a:prstGeom>
          <a:noFill/>
          <a:ln w="12700">
            <a:solidFill>
              <a:srgbClr val="3A3D4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03597" y="46268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8E8B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5년차 매출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003597" y="48737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260억 원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5003597" y="52943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8B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영업이익 62억 (24%)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075627" y="4590288"/>
            <a:ext cx="0" cy="987552"/>
          </a:xfrm>
          <a:prstGeom prst="line">
            <a:avLst/>
          </a:prstGeom>
          <a:noFill/>
          <a:ln w="12700">
            <a:solidFill>
              <a:srgbClr val="3A3D4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85355" y="46268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8E8B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BEP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7185355" y="48737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3차년도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7185355" y="52943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8B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2029년 · 매출 78억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257386" y="4590288"/>
            <a:ext cx="0" cy="987552"/>
          </a:xfrm>
          <a:prstGeom prst="line">
            <a:avLst/>
          </a:prstGeom>
          <a:noFill/>
          <a:ln w="12700">
            <a:solidFill>
              <a:srgbClr val="3A3D4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67114" y="46268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8E8B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LTV / CAC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9367114" y="48737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10.5배</a:t>
            </a:r>
            <a:endParaRPr lang="en-US" sz="2100" dirty="0"/>
          </a:p>
        </p:txBody>
      </p:sp>
      <p:sp>
        <p:nvSpPr>
          <p:cNvPr id="25" name="Text 23"/>
          <p:cNvSpPr txBox="1"/>
          <p:nvPr/>
        </p:nvSpPr>
        <p:spPr>
          <a:xfrm>
            <a:off x="9367114" y="52943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8B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회수기간 3.8개월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61081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B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BSM  ·  netk.tistory.com  ·  bsmshop.cafe24.com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34593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BSM · 하이브리드 RAG 챗봇 ISP · 투자 유치 계획서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45936"/>
            <a:ext cx="576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429768"/>
            <a:ext cx="91440" cy="91440"/>
          </a:xfrm>
          <a:prstGeom prst="rect">
            <a:avLst/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2104" y="3383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C2F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MARKET TIMING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00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지금인가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0700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수요는 폭발했고 공급은 한 구간에서 비어 있습니다. 그 구간의 이름은 “월 10만 원, 2주 개통”입니다.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700784"/>
            <a:ext cx="6903720" cy="914400"/>
          </a:xfrm>
          <a:prstGeom prst="rect">
            <a:avLst/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" y="1883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C2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18196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 폭발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208483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국내 기업용 AI 시장 6조 4,190억 원(전년비 +25%). 국내 AI 시장은 14조 원을 돌파해 2032년 41조 원으로 3배 성장 전망.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724912"/>
            <a:ext cx="6903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2907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C2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28437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공급 공백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98448" y="310896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통신사 AICC는 수억 원대 구축형에, 글로벌 SaaS는 영어권 엔터프라이즈에 집중. 771만 중소기업·소상공인 구간은 사실상 무주공산.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749040"/>
            <a:ext cx="6903720" cy="914400"/>
          </a:xfrm>
          <a:prstGeom prst="rect">
            <a:avLst/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C2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38679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순풍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98448" y="413308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원스톱 바우처 294억 원, AI 바우처 수요기업당 최대 2억 원. 공급기업 등록 사업자에게 직접 매출로 연결.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4773168"/>
            <a:ext cx="6903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1248" y="4956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C2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1298448" y="4892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원가 구조 반전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98448" y="5157216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경량 모델·서버리스 벡터 검색으로 테넌트당 월 클라우드 원가 2~4만 원. 월 10만 원대 요금제에서도 총이익률 74~80%.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955280" y="1700784"/>
            <a:ext cx="3593592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38160" y="1819656"/>
            <a:ext cx="3227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AI 시장 (2026)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8138160" y="2039112"/>
            <a:ext cx="3227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8C2F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14조 원</a:t>
            </a:r>
            <a:endParaRPr lang="en-US" sz="2500" dirty="0"/>
          </a:p>
        </p:txBody>
      </p:sp>
      <p:sp>
        <p:nvSpPr>
          <p:cNvPr id="27" name="Text 25"/>
          <p:cNvSpPr txBox="1"/>
          <p:nvPr/>
        </p:nvSpPr>
        <p:spPr>
          <a:xfrm>
            <a:off x="8138160" y="2459736"/>
            <a:ext cx="32278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2032년 41조 원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955280" y="3054096"/>
            <a:ext cx="3593592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138160" y="3172968"/>
            <a:ext cx="3227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기업용 AI 예산 (2026)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8138160" y="3392424"/>
            <a:ext cx="3227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6.42조 원</a:t>
            </a:r>
            <a:endParaRPr lang="en-US" sz="2500" dirty="0"/>
          </a:p>
        </p:txBody>
      </p:sp>
      <p:sp>
        <p:nvSpPr>
          <p:cNvPr id="31" name="Text 29"/>
          <p:cNvSpPr txBox="1"/>
          <p:nvPr/>
        </p:nvSpPr>
        <p:spPr>
          <a:xfrm>
            <a:off x="8138160" y="3813048"/>
            <a:ext cx="32278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전년 대비 +25%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955280" y="4407408"/>
            <a:ext cx="3593592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138160" y="4526280"/>
            <a:ext cx="3227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활용 기업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8138160" y="4745736"/>
            <a:ext cx="3227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2500" dirty="0"/>
          </a:p>
        </p:txBody>
      </p:sp>
      <p:sp>
        <p:nvSpPr>
          <p:cNvPr id="35" name="Text 33"/>
          <p:cNvSpPr txBox="1"/>
          <p:nvPr/>
        </p:nvSpPr>
        <p:spPr>
          <a:xfrm>
            <a:off x="8138160" y="5166360"/>
            <a:ext cx="32278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2026년까지 전망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34593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BSM · 하이브리드 RAG 챗봇 ISP · 투자 유치 계획서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45936"/>
            <a:ext cx="576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429768"/>
            <a:ext cx="91440" cy="91440"/>
          </a:xfrm>
          <a:prstGeom prst="rect">
            <a:avLst/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2104" y="3383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C2F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POSITIONING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00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시장은 비어 있는 사분면을 가지고 있습니다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0700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정확도와 접근성을 동시에 만족하는 공급자가 국내에 없습니다.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600200" y="2148840"/>
            <a:ext cx="9692640" cy="3566160"/>
          </a:xfrm>
          <a:prstGeom prst="rect">
            <a:avLst/>
          </a:prstGeom>
          <a:solidFill>
            <a:srgbClr val="FAFAF9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00200" y="3931920"/>
            <a:ext cx="9692640" cy="0"/>
          </a:xfrm>
          <a:prstGeom prst="line">
            <a:avLst/>
          </a:prstGeom>
          <a:noFill/>
          <a:ln w="12700">
            <a:solidFill>
              <a:srgbClr val="D9D8D4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6446520" y="2148840"/>
            <a:ext cx="0" cy="3566160"/>
          </a:xfrm>
          <a:prstGeom prst="line">
            <a:avLst/>
          </a:prstGeom>
          <a:noFill/>
          <a:ln w="12700">
            <a:solidFill>
              <a:srgbClr val="D9D8D4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640080" y="2148840"/>
            <a:ext cx="914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정확도 · 거버넌스  ↑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8778240" y="57790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 접근성 · 개통 속도  →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807208" y="2697480"/>
            <a:ext cx="274320" cy="274320"/>
          </a:xfrm>
          <a:prstGeom prst="ellipse">
            <a:avLst/>
          </a:prstGeom>
          <a:solidFill>
            <a:srgbClr val="C9C7C2"/>
          </a:solidFill>
          <a:ln w="12700">
            <a:solidFill>
              <a:srgbClr val="ADAAA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984248" y="300837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통신사 AICC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43400" y="3172968"/>
            <a:ext cx="274320" cy="274320"/>
          </a:xfrm>
          <a:prstGeom prst="ellipse">
            <a:avLst/>
          </a:prstGeom>
          <a:solidFill>
            <a:srgbClr val="C9C7C2"/>
          </a:solidFill>
          <a:ln w="12700">
            <a:solidFill>
              <a:srgbClr val="ADAAA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20440" y="34838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전문기업 (SI)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23560" y="3703320"/>
            <a:ext cx="274320" cy="274320"/>
          </a:xfrm>
          <a:prstGeom prst="ellipse">
            <a:avLst/>
          </a:prstGeom>
          <a:solidFill>
            <a:srgbClr val="C9C7C2"/>
          </a:solidFill>
          <a:ln w="12700">
            <a:solidFill>
              <a:srgbClr val="ADAAA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00600" y="40142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상담 SaaS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38744" y="4709160"/>
            <a:ext cx="274320" cy="274320"/>
          </a:xfrm>
          <a:prstGeom prst="ellipse">
            <a:avLst/>
          </a:prstGeom>
          <a:solidFill>
            <a:srgbClr val="C9C7C2"/>
          </a:solidFill>
          <a:ln w="12700">
            <a:solidFill>
              <a:srgbClr val="ADAAA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15784" y="50200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 범용 봇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829800" y="4069080"/>
            <a:ext cx="274320" cy="274320"/>
          </a:xfrm>
          <a:prstGeom prst="ellipse">
            <a:avLst/>
          </a:prstGeom>
          <a:solidFill>
            <a:srgbClr val="C9C7C2"/>
          </a:solidFill>
          <a:ln w="12700">
            <a:solidFill>
              <a:srgbClr val="ADAAA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006840" y="437997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상담 SaaS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241280" y="5001768"/>
            <a:ext cx="274320" cy="274320"/>
          </a:xfrm>
          <a:prstGeom prst="ellipse">
            <a:avLst/>
          </a:prstGeom>
          <a:solidFill>
            <a:srgbClr val="C9C7C2"/>
          </a:solidFill>
          <a:ln w="12700">
            <a:solidFill>
              <a:srgbClr val="ADAAA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418320" y="53126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DIY 커스텀 GPT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326880" y="2596896"/>
            <a:ext cx="475488" cy="475488"/>
          </a:xfrm>
          <a:prstGeom prst="ellipse">
            <a:avLst/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326880" y="270662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BSM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284464" y="31272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C2F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정확도는 지키고 가격은 내린다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903720" y="2286000"/>
            <a:ext cx="2286000" cy="566928"/>
          </a:xfrm>
          <a:prstGeom prst="rect">
            <a:avLst/>
          </a:prstGeom>
          <a:solidFill>
            <a:srgbClr val="EFE0E1"/>
          </a:solidFill>
          <a:ln w="12700">
            <a:solidFill>
              <a:srgbClr val="EFE0E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95160" y="235915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8C2F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공급 공백 구간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8C2F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10만 원 · 2주 개통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34593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BSM · 하이브리드 RAG 챗봇 ISP · 투자 유치 계획서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45936"/>
            <a:ext cx="576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429768"/>
            <a:ext cx="91440" cy="91440"/>
          </a:xfrm>
          <a:prstGeom prst="rect">
            <a:avLst/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2104" y="3383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C2F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COMPANY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00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콘텐츠·커머스·CS를 직접 운영해 온 조직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0700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챗봇 회사에 필요한 실데이터와 유통 자산을 이미 보유하고 있습니다.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682496"/>
            <a:ext cx="34747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1883664"/>
            <a:ext cx="82296" cy="82296"/>
          </a:xfrm>
          <a:prstGeom prst="rect">
            <a:avLst/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24128" y="1801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블로그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212140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2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netk.tistory.com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4323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네트워크·IT 실무 콘텐츠 축적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41248" y="2761488"/>
            <a:ext cx="3072384" cy="0"/>
          </a:xfrm>
          <a:prstGeom prst="line">
            <a:avLst/>
          </a:prstGeom>
          <a:noFill/>
          <a:ln w="12700">
            <a:solidFill>
              <a:srgbClr val="D9D8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" y="2834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지식 코퍼스 + 오가닉 유입 채널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43400" y="1682496"/>
            <a:ext cx="34747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44568" y="1883664"/>
            <a:ext cx="82296" cy="82296"/>
          </a:xfrm>
          <a:prstGeom prst="rect">
            <a:avLst/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27448" y="1801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유튜브 채널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544568" y="212140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2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BSM 채널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44568" y="24323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기반 교육·데모 운영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44568" y="2761488"/>
            <a:ext cx="3072384" cy="0"/>
          </a:xfrm>
          <a:prstGeom prst="line">
            <a:avLst/>
          </a:prstGeom>
          <a:noFill/>
          <a:ln w="12700">
            <a:solidFill>
              <a:srgbClr val="D9D8D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44568" y="2834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파트너 모집 및 온보딩 교육 인프라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046720" y="1682496"/>
            <a:ext cx="34747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47888" y="1883664"/>
            <a:ext cx="82296" cy="82296"/>
          </a:xfrm>
          <a:prstGeom prst="rect">
            <a:avLst/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30768" y="1801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자사몰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8247888" y="212140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2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bsmshop.cafe24.com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247888" y="24323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상거래·CS 운영 경험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247888" y="2761488"/>
            <a:ext cx="3072384" cy="0"/>
          </a:xfrm>
          <a:prstGeom prst="line">
            <a:avLst/>
          </a:prstGeom>
          <a:noFill/>
          <a:ln w="12700">
            <a:solidFill>
              <a:srgbClr val="D9D8D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47888" y="2834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1호 레퍼런스 테넌트 · 커머스 도메인 팩 원천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36758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리뉴얼 후 3단 구조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" y="4041648"/>
            <a:ext cx="3474720" cy="1024128"/>
          </a:xfrm>
          <a:prstGeom prst="rect">
            <a:avLst/>
          </a:prstGeom>
          <a:solidFill>
            <a:srgbClr val="EFE0E1"/>
          </a:solidFill>
          <a:ln w="12700">
            <a:solidFill>
              <a:srgbClr val="EFE0E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41248" y="41879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C2F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BSM 본사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841248" y="448056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엔진·인프라·모델 운영, 파트너 교육, 품질 보증. SLA 책임 주체.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142232" y="4443984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E72"/>
                </a:solidFill>
              </a:rPr>
              <a:t>▶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343400" y="4041648"/>
            <a:ext cx="3474720" cy="1024128"/>
          </a:xfrm>
          <a:prstGeom prst="rect">
            <a:avLst/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44568" y="41879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분양 파트너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4544568" y="448056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업종/지역 구좌를 분양받아 최종 고객 모집 · 온보딩 · 1차 CS.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7845552" y="4443984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E72"/>
                </a:solidFill>
              </a:rPr>
              <a:t>▶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046720" y="4041648"/>
            <a:ext cx="3474720" cy="1024128"/>
          </a:xfrm>
          <a:prstGeom prst="rect">
            <a:avLst/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247888" y="41879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테넌트 (최종 고객)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8247888" y="448056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자사 데이터로 학습된 챗봇 앱을 월 구독으로 사용.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0080" y="5230368"/>
            <a:ext cx="10908792" cy="713232"/>
          </a:xfrm>
          <a:prstGeom prst="rect">
            <a:avLst/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59536" y="5468112"/>
            <a:ext cx="10451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가지 희소 자산  </a:t>
            </a:r>
            <a:pPr indent="0" marL="0">
              <a:buNone/>
            </a:pPr>
            <a:r>
              <a:rPr lang="en-US" sz="11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실제 CS 로그와 상품 데이터라는 RAG 평가용 실데이터   ② 온라인 판매 운영 노하우라는 파트너 이전 가능 교육 자산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34593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BSM · 하이브리드 RAG 챗봇 ISP · 투자 유치 계획서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45936"/>
            <a:ext cx="576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429768"/>
            <a:ext cx="91440" cy="91440"/>
          </a:xfrm>
          <a:prstGeom prst="rect">
            <a:avLst/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2104" y="3383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C2F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MARKET SIZE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00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AI 챗봇 시장 규모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0700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AICC 통계는 콜센터 대체 시장만 집계합니다. 웹·카카오톡 상담봇과 사내 지식봇을 합산한 실질 시장은 그보다 큽니다.</a:t>
            </a:r>
            <a:endParaRPr lang="en-US" sz="12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40080" y="1755648"/>
          <a:ext cx="685800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640080" y="5614416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Allied Market Research (2020 · 2030 실측), 중간 연도는 CAGR 23.7% 적용 보간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818120" y="1755648"/>
            <a:ext cx="373075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1874520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AI 시장 전체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2093976"/>
            <a:ext cx="3364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C2F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14조 원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8001000" y="2514600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· 2032년 41조 원 전망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818120" y="2871216"/>
            <a:ext cx="373075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01000" y="2990088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생성형 AI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8001000" y="3209544"/>
            <a:ext cx="3364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1.14조 원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8001000" y="3630168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2025년 · 2032년 5.26조 원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818120" y="3986784"/>
            <a:ext cx="373075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001000" y="4105656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기업용 AI (ICT 예산)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8001000" y="4325112"/>
            <a:ext cx="3364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6.42조 원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8001000" y="4745736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· 전년 대비 +25%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818120" y="5102352"/>
            <a:ext cx="373075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001000" y="5221224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챗봇 시장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8001000" y="5440680"/>
            <a:ext cx="3364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$11.45B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8001000" y="5861304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· CAGR 약 23%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34593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BSM · 하이브리드 RAG 챗봇 ISP · 투자 유치 계획서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45936"/>
            <a:ext cx="576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429768"/>
            <a:ext cx="91440" cy="91440"/>
          </a:xfrm>
          <a:prstGeom prst="rect">
            <a:avLst/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2104" y="3383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C2F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TAM / SAM / SOM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00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도달 가능한 시장과 목표 점유율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0700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771만 사업체 모수에서 bottom-up으로 산출했습니다.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755648"/>
            <a:ext cx="7040880" cy="822960"/>
          </a:xfrm>
          <a:prstGeom prst="rect">
            <a:avLst/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" y="188366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TAM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215798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대화형 AI · AICC · 상담 SaaS 총합 (2030)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532120" y="1993392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6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1조 2,000억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143000" y="2724912"/>
            <a:ext cx="6537960" cy="822960"/>
          </a:xfrm>
          <a:prstGeom prst="rect">
            <a:avLst/>
          </a:prstGeom>
          <a:solidFill>
            <a:srgbClr val="E4E3DF"/>
          </a:solidFill>
          <a:ln w="12700">
            <a:solidFill>
              <a:srgbClr val="E4E3D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44168" y="28529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344168" y="312724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중소·중견 대상 RAG 챗봇 구독 시장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532120" y="2962656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6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3,000억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645920" y="3694176"/>
            <a:ext cx="6035040" cy="822960"/>
          </a:xfrm>
          <a:prstGeom prst="rect">
            <a:avLst/>
          </a:prstGeom>
          <a:solidFill>
            <a:srgbClr val="EFE0E1"/>
          </a:solidFill>
          <a:ln w="12700">
            <a:solidFill>
              <a:srgbClr val="EFE0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847088" y="382219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8C2F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SOM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847088" y="4096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BSM 5차년도 목표 · SAM 침투율 8.7%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532120" y="3931920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8C2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260억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40080" y="4828032"/>
            <a:ext cx="70408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9536" y="49560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 산출 근거 (Bottom-up)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59536" y="5230368"/>
            <a:ext cx="6629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중소기업·소상공인 771만 4천 개(전체 기업의 99.9%) → 온라인 채널 운영·상시 문의 발생 약 60만 개(7.8%)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3년 내 유료 전환 5% = 3만 테넌트 × 연 ARPU 100만 원 = 3,000억 원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55280" y="1755648"/>
            <a:ext cx="359359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38160" y="1874520"/>
            <a:ext cx="3227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5년차 목표 매출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138160" y="2093976"/>
            <a:ext cx="3227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8C2F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260억 원</a:t>
            </a:r>
            <a:endParaRPr lang="en-US" sz="2500" dirty="0"/>
          </a:p>
        </p:txBody>
      </p:sp>
      <p:sp>
        <p:nvSpPr>
          <p:cNvPr id="26" name="Text 24"/>
          <p:cNvSpPr txBox="1"/>
          <p:nvPr/>
        </p:nvSpPr>
        <p:spPr>
          <a:xfrm>
            <a:off x="8138160" y="2514600"/>
            <a:ext cx="32278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 침투율 8.7%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955280" y="3054096"/>
            <a:ext cx="359359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138160" y="3172968"/>
            <a:ext cx="3227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파트너 구좌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8138160" y="3392424"/>
            <a:ext cx="3227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220개좌</a:t>
            </a:r>
            <a:endParaRPr lang="en-US" sz="2500" dirty="0"/>
          </a:p>
        </p:txBody>
      </p:sp>
      <p:sp>
        <p:nvSpPr>
          <p:cNvPr id="30" name="Text 28"/>
          <p:cNvSpPr txBox="1"/>
          <p:nvPr/>
        </p:nvSpPr>
        <p:spPr>
          <a:xfrm>
            <a:off x="8138160" y="3813048"/>
            <a:ext cx="32278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구좌당 테넌트 39개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955280" y="4352544"/>
            <a:ext cx="359359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138160" y="4471416"/>
            <a:ext cx="3227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파트너 1곳 부담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8138160" y="4690872"/>
            <a:ext cx="3227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3~4건</a:t>
            </a:r>
            <a:endParaRPr lang="en-US" sz="2500" dirty="0"/>
          </a:p>
        </p:txBody>
      </p:sp>
      <p:sp>
        <p:nvSpPr>
          <p:cNvPr id="34" name="Text 32"/>
          <p:cNvSpPr txBox="1"/>
          <p:nvPr/>
        </p:nvSpPr>
        <p:spPr>
          <a:xfrm>
            <a:off x="8138160" y="5111496"/>
            <a:ext cx="32278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계약 기준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7955280" y="5632704"/>
            <a:ext cx="3593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SOM은 영업 난이도로 환산했을 때 파트너 1곳이 월 3~4건을 계약하면 도달하는 수준입니다.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34593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BSM · 하이브리드 RAG 챗봇 ISP · 투자 유치 계획서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45936"/>
            <a:ext cx="576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429768"/>
            <a:ext cx="91440" cy="91440"/>
          </a:xfrm>
          <a:prstGeom prst="rect">
            <a:avLst/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2104" y="3383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C2F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COMPETITION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00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 진영, 그리고 아무도 없는 구간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0700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경쟁의 축을 제품 성능이 아니라 유통 구조로 옮깁니다.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755648"/>
            <a:ext cx="34747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" y="19019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통신사 AICC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219456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KT · SKT · LG유플러스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248716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E6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  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대형 콜센터 레퍼런스, 회선 번들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90779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8C2F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약점 = 기회  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계약 규모 큼 · 구축 3~6개월 · 소상공인 접근 불가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43400" y="1755648"/>
            <a:ext cx="34747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44568" y="19019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전문기업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44568" y="219456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솔트룩스 · 와이즈넛 · 스켈터랩스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544568" y="248716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E6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  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NLP 기술력, 공공 레퍼런스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544568" y="290779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8C2F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약점 = 기회  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프로젝트형(SI) 매출 → 확장성 낮음 · 셀프서비스 부재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46720" y="1755648"/>
            <a:ext cx="34747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47888" y="19019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247888" y="219456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클로바 · 카카오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8247888" y="248716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E6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  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장악력, 자체 모델 보유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8247888" y="290779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8C2F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약점 = 기회  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 제품 · 테넌트별 데이터 커스터마이징 한계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" y="3639312"/>
            <a:ext cx="34747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1248" y="378561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상담 SaaS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41248" y="407822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채널톡(ALF) · 해피톡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841248" y="43708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E6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  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중소·이커머스 최적화, 낮은 진입장벽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41248" y="479145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8C2F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약점 = 기회  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UI 중심 · 문서 기반 심층 RAG 대응 약함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43400" y="3639312"/>
            <a:ext cx="34747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44568" y="378561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SaaS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544568" y="407822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Intercom Fin · Zendesk AI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4544568" y="43708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E6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  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완성도, 브랜드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544568" y="479145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8C2F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약점 = 기회  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한국어·국내 규제·세금계산서 대응 미흡 · 고가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046720" y="3639312"/>
            <a:ext cx="34747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47888" y="378561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DIY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8247888" y="407822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커스텀 GPT류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8247888" y="43708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E6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  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무료~저가, 즉시 사용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8247888" y="479145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8C2F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약점 = 기회  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거버넌스·감사로그·SLA 부재 · 업무 시스템 연동 불가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40080" y="5596128"/>
            <a:ext cx="10908792" cy="566928"/>
          </a:xfrm>
          <a:prstGeom prst="rect">
            <a:avLst/>
          </a:prstGeom>
          <a:solidFill>
            <a:srgbClr val="16181B"/>
          </a:solidFill>
          <a:ln w="12700">
            <a:solidFill>
              <a:srgbClr val="16181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0080" y="5724144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채널톡의 가격과 접근성  +  와이즈넛의 검색 정확도  +  통신사의 유통 구조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34593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BSM · 하이브리드 RAG 챗봇 ISP · 투자 유치 계획서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45936"/>
            <a:ext cx="576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429768"/>
            <a:ext cx="91440" cy="91440"/>
          </a:xfrm>
          <a:prstGeom prst="rect">
            <a:avLst/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2104" y="3383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C2F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POLICY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00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규제는 비용이 아니라 해자입니다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0700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 바우처는 초기 매출로, 규제 대응은 진입장벽으로 전환합니다.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755648"/>
            <a:ext cx="34747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1956816"/>
            <a:ext cx="82296" cy="82296"/>
          </a:xfrm>
          <a:prstGeom prst="rect">
            <a:avLst/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24128" y="1874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원스톱 바우처 (2026)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226771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294억 원 · 약 20개 과제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+ 클라우드 + 데이터 통합 지원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41248" y="2907792"/>
            <a:ext cx="3072384" cy="0"/>
          </a:xfrm>
          <a:prstGeom prst="line">
            <a:avLst/>
          </a:prstGeom>
          <a:noFill/>
          <a:ln w="12700">
            <a:solidFill>
              <a:srgbClr val="D9D8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29809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C2F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BSM 활용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32186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공급기업 등록 후 컨소시엄 참여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초기 레퍼런스 확보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43400" y="1755648"/>
            <a:ext cx="34747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44568" y="1956816"/>
            <a:ext cx="82296" cy="82296"/>
          </a:xfrm>
          <a:prstGeom prst="rect">
            <a:avLst/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27448" y="1874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바우처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544568" y="226771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수요기업당 최대 2억 원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솔루션 도입 비용 지원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44568" y="2907792"/>
            <a:ext cx="3072384" cy="0"/>
          </a:xfrm>
          <a:prstGeom prst="line">
            <a:avLst/>
          </a:prstGeom>
          <a:noFill/>
          <a:ln w="12700">
            <a:solidFill>
              <a:srgbClr val="D9D8D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44568" y="29809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C2F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BSM 활용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4544568" y="32186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파트너 영업 시 고객 실부담 20%까지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CAC 절감 및 계약 성사율 상승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046720" y="1755648"/>
            <a:ext cx="34747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47888" y="1956816"/>
            <a:ext cx="82296" cy="82296"/>
          </a:xfrm>
          <a:prstGeom prst="rect">
            <a:avLst/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30768" y="1874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혁신 소상공인 AI 활용지원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247888" y="226771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소상공인 대상 AI 도입 지원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47888" y="2907792"/>
            <a:ext cx="3072384" cy="0"/>
          </a:xfrm>
          <a:prstGeom prst="line">
            <a:avLst/>
          </a:prstGeom>
          <a:noFill/>
          <a:ln w="12700">
            <a:solidFill>
              <a:srgbClr val="D9D8D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47888" y="29809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C2F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BSM 활용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8247888" y="32186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Starter 플랜(월 9.9만 원) 타깃과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정확히 일치하는 수요 풀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40782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 대응 = 제품 기본 기능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" y="4443984"/>
            <a:ext cx="10908792" cy="658368"/>
          </a:xfrm>
          <a:prstGeom prst="rect">
            <a:avLst/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59536" y="46451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기본법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2743200" y="46634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표시 의무, 투명성·안전성 확보 의무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858000" y="466344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2F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인용 · AI 고지 배너 · 전 구간 감사로그를 기본 탑재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" y="5193792"/>
            <a:ext cx="1090879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59536" y="5394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개인정보보호법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2743200" y="54132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데이터 내 개인정보 처리 규율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6858000" y="54132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2F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리전 고정 · PII 마스킹 · 테넌트별 IAM·CMEK · ISMS-P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34593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BSM · 하이브리드 RAG 챗봇 ISP · 투자 유치 계획서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45936"/>
            <a:ext cx="576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429768"/>
            <a:ext cx="91440" cy="91440"/>
          </a:xfrm>
          <a:prstGeom prst="rect">
            <a:avLst/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2104" y="3383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C2F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00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하이브리드 RAG 파이프라인 (GCP)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0700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순수 벡터 검색은 “환불 규정”과 “교환 규정”을 유사하다고 판단해 틀린 조항을 인용합니다.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830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00" kern="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920240" y="1664208"/>
            <a:ext cx="962863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21408" y="1755648"/>
            <a:ext cx="9226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· PDF · 엑셀 · 상품DB · CS로그 · 유튜브 자막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121408" y="1975104"/>
            <a:ext cx="9226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Document AI 파싱 → 시맨틱 청킹 → 메타데이터 태깅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75120" y="2235708"/>
            <a:ext cx="109728" cy="109728"/>
          </a:xfrm>
          <a:prstGeom prst="downArrow">
            <a:avLst/>
          </a:prstGeom>
          <a:solidFill>
            <a:srgbClr val="C4C2BE"/>
          </a:solidFill>
          <a:ln w="12700">
            <a:solidFill>
              <a:srgbClr val="C4C2B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4688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00" kern="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920240" y="2350008"/>
            <a:ext cx="962863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121408" y="2441448"/>
            <a:ext cx="9226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Vertex AI Embeddings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2121408" y="2660904"/>
            <a:ext cx="9226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다국어 모델 · 테넌트별 네임스페이스 분리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0" y="2921508"/>
            <a:ext cx="109728" cy="109728"/>
          </a:xfrm>
          <a:prstGeom prst="downArrow">
            <a:avLst/>
          </a:prstGeom>
          <a:solidFill>
            <a:srgbClr val="C4C2BE"/>
          </a:solidFill>
          <a:ln w="12700">
            <a:solidFill>
              <a:srgbClr val="C4C2B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1546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00" kern="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· 이원화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920240" y="3035808"/>
            <a:ext cx="4722876" cy="987552"/>
          </a:xfrm>
          <a:prstGeom prst="rect">
            <a:avLst/>
          </a:prstGeom>
          <a:solidFill>
            <a:srgbClr val="EFE0E1"/>
          </a:solidFill>
          <a:ln w="12700">
            <a:solidFill>
              <a:srgbClr val="EFE0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121408" y="3145536"/>
            <a:ext cx="43205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8C2F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HOT 티어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2121408" y="3383280"/>
            <a:ext cx="43205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Vertex AI Vector Search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121408" y="3621024"/>
            <a:ext cx="43205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저지연 ANN, p95 &lt; 50ms · 실시간 상담 경로 전용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테넌트 tenant_id 필터 공유 인덱스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25996" y="3035808"/>
            <a:ext cx="4722876" cy="987552"/>
          </a:xfrm>
          <a:prstGeom prst="rect">
            <a:avLst/>
          </a:prstGeom>
          <a:solidFill>
            <a:srgbClr val="DEE9E5"/>
          </a:solidFill>
          <a:ln w="12700">
            <a:solidFill>
              <a:srgbClr val="DEE9E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27164" y="3145536"/>
            <a:ext cx="43205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1E6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COLD 티어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7027164" y="3383280"/>
            <a:ext cx="43205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BigQuery VECTOR_SEARCH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027164" y="3621024"/>
            <a:ext cx="43205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원문·메타 정본(SSOT) · SEARCH INDEX 키워드(BM25)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재인덱싱 · 분석 및 리포팅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75120" y="4027932"/>
            <a:ext cx="109728" cy="109728"/>
          </a:xfrm>
          <a:prstGeom prst="downArrow">
            <a:avLst/>
          </a:prstGeom>
          <a:solidFill>
            <a:srgbClr val="C4C2BE"/>
          </a:solidFill>
          <a:ln w="12700">
            <a:solidFill>
              <a:srgbClr val="C4C2B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42611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00" kern="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융합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920240" y="4142232"/>
            <a:ext cx="962863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121408" y="4233672"/>
            <a:ext cx="9226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Dense(의미) ⊕ Sparse(키워드) → RRF 융합 → 메타 필터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2121408" y="4453128"/>
            <a:ext cx="9226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품번 · 약품명 · 법령 조항처럼 정확 문자열이 정답인 질의의 실패 모드를 제거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75120" y="4713732"/>
            <a:ext cx="109728" cy="109728"/>
          </a:xfrm>
          <a:prstGeom prst="downArrow">
            <a:avLst/>
          </a:prstGeom>
          <a:solidFill>
            <a:srgbClr val="C4C2BE"/>
          </a:solidFill>
          <a:ln w="12700">
            <a:solidFill>
              <a:srgbClr val="C4C2B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080" y="49469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00" kern="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재순위 · 생성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920240" y="4828032"/>
            <a:ext cx="962863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121408" y="4919472"/>
            <a:ext cx="9226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Vertex AI Ranking API → Gemini (Flash 기본 / Pro 에스컬레이션)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2121408" y="5138928"/>
            <a:ext cx="9226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인용 강제 · 미근거 시 “모름 + 상담사 이관”이 기본값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675120" y="5399532"/>
            <a:ext cx="109728" cy="109728"/>
          </a:xfrm>
          <a:prstGeom prst="downArrow">
            <a:avLst/>
          </a:prstGeom>
          <a:solidFill>
            <a:srgbClr val="C4C2BE"/>
          </a:solidFill>
          <a:ln w="12700">
            <a:solidFill>
              <a:srgbClr val="C4C2B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0080" y="56327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00" kern="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서빙 · 운영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920240" y="5513832"/>
            <a:ext cx="962863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121408" y="5605272"/>
            <a:ext cx="9226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 Run + API Gateway + Cloud Armor + Firestore(세션)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2121408" y="5824728"/>
            <a:ext cx="9226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골든셋 자동 회귀 평가 · 프롬프트 버저닝 · 토큰 상한 · 전 구간 감사로그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34593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BSM · 하이브리드 RAG 챗봇 ISP · 투자 유치 계획서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45936"/>
            <a:ext cx="576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429768"/>
            <a:ext cx="91440" cy="91440"/>
          </a:xfrm>
          <a:prstGeom prst="rect">
            <a:avLst/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2104" y="3383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C2F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 COST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00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이원화가 곧 원가 경쟁력입니다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0700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Vertex 인덱스는 상주 노드 시간당 과금입니다. 테넌트마다 전용 인덱스를 두면 원가가 매출을 넘어섭니다.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755648"/>
            <a:ext cx="5349240" cy="2331720"/>
          </a:xfrm>
          <a:prstGeom prst="rect">
            <a:avLst/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77824" y="1920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일반적 구성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221284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테넌트별 전용 벡터 인덱스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77824" y="259689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 규모 인덱스 3-replica 상주 시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테넌트당 월 700~800달러 고정 발생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77824" y="31821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2F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9.9만 원 요금제에서 원가가 매출의 9배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77824" y="351129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소상공인 시장 진입 자체가 불가능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99632" y="1755648"/>
            <a:ext cx="5349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37376" y="1956816"/>
            <a:ext cx="82296" cy="82296"/>
          </a:xfrm>
          <a:prstGeom prst="rect">
            <a:avLst/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20256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8C2F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BSM 구성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437376" y="221284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Hot 인덱스 + 쿼리 과금형 Cold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37376" y="259689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경로만 공유 인덱스로 처리하고 나머지는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BigQuery로 이관 — 고정비를 수천 테넌트가 분담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437376" y="31821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6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테넌트당 월 클라우드 원가 1.2만 ~ 3.5만 원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37376" y="351129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월 9.9만 원 요금제에서도 흑자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315968"/>
            <a:ext cx="2569464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4434840"/>
            <a:ext cx="2203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Starter 원가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654296"/>
            <a:ext cx="2203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6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1.2만 원</a:t>
            </a:r>
            <a:endParaRPr lang="en-US" sz="25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074920"/>
            <a:ext cx="22037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· 요금 9.9만 원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38144" y="4315968"/>
            <a:ext cx="2569464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21024" y="4434840"/>
            <a:ext cx="2203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 원가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3621024" y="4654296"/>
            <a:ext cx="2203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6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3.5만 원</a:t>
            </a:r>
            <a:endParaRPr lang="en-US" sz="2500" dirty="0"/>
          </a:p>
        </p:txBody>
      </p:sp>
      <p:sp>
        <p:nvSpPr>
          <p:cNvPr id="28" name="Text 26"/>
          <p:cNvSpPr txBox="1"/>
          <p:nvPr/>
        </p:nvSpPr>
        <p:spPr>
          <a:xfrm>
            <a:off x="3621024" y="5074920"/>
            <a:ext cx="22037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· 요금 29만 원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36208" y="4315968"/>
            <a:ext cx="2569464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19088" y="4434840"/>
            <a:ext cx="2203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매출총이익률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6419088" y="4654296"/>
            <a:ext cx="2203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8C2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 → 80%</a:t>
            </a:r>
            <a:endParaRPr lang="en-US" sz="2500" dirty="0"/>
          </a:p>
        </p:txBody>
      </p:sp>
      <p:sp>
        <p:nvSpPr>
          <p:cNvPr id="32" name="Text 30"/>
          <p:cNvSpPr txBox="1"/>
          <p:nvPr/>
        </p:nvSpPr>
        <p:spPr>
          <a:xfrm>
            <a:off x="6419088" y="5074920"/>
            <a:ext cx="22037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Y1 → Y5 개선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034272" y="4315968"/>
            <a:ext cx="2569464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217152" y="4434840"/>
            <a:ext cx="2203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매출원가율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9217152" y="4654296"/>
            <a:ext cx="2203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 → 20%</a:t>
            </a:r>
            <a:endParaRPr lang="en-US" sz="2500" dirty="0"/>
          </a:p>
        </p:txBody>
      </p:sp>
      <p:sp>
        <p:nvSpPr>
          <p:cNvPr id="36" name="Text 34"/>
          <p:cNvSpPr txBox="1"/>
          <p:nvPr/>
        </p:nvSpPr>
        <p:spPr>
          <a:xfrm>
            <a:off x="9217152" y="5074920"/>
            <a:ext cx="22037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규모의 경제 반영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57607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라우팅(경량↔고성능), 응답 캐시, 요금제 내 세션 상한으로 LLM 단가 변동 위험을 흡수합니다.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34593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BSM · 하이브리드 RAG 챗봇 ISP · 투자 유치 계획서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45936"/>
            <a:ext cx="576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429768"/>
            <a:ext cx="91440" cy="91440"/>
          </a:xfrm>
          <a:prstGeom prst="rect">
            <a:avLst/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2104" y="3383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C2F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QUALITY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00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계약서에 쓸 수 있는 품질 지표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0700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정확도를 마케팅 문구가 아니라 측정 가능한 SLA로 정의합니다.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755648"/>
            <a:ext cx="20116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92024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기반 정답률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3591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8C2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90%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871216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테넌트별 골든셋 200문항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회귀 평가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857500" y="1755648"/>
            <a:ext cx="20116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40380" y="192024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자동 완결률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040380" y="23591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65%</a:t>
            </a:r>
            <a:endParaRPr lang="en-US" sz="2500" dirty="0"/>
          </a:p>
        </p:txBody>
      </p:sp>
      <p:sp>
        <p:nvSpPr>
          <p:cNvPr id="15" name="Text 13"/>
          <p:cNvSpPr txBox="1"/>
          <p:nvPr/>
        </p:nvSpPr>
        <p:spPr>
          <a:xfrm>
            <a:off x="3040380" y="2871216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상담사 이관 없이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종료된 세션 비율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74920" y="1755648"/>
            <a:ext cx="20116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57800" y="192024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지연 p95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257800" y="23591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≤ 2.5초</a:t>
            </a:r>
            <a:endParaRPr lang="en-US" sz="2500" dirty="0"/>
          </a:p>
        </p:txBody>
      </p:sp>
      <p:sp>
        <p:nvSpPr>
          <p:cNvPr id="19" name="Text 17"/>
          <p:cNvSpPr txBox="1"/>
          <p:nvPr/>
        </p:nvSpPr>
        <p:spPr>
          <a:xfrm>
            <a:off x="5257800" y="2871216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토큰 기준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292340" y="1755648"/>
            <a:ext cx="20116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75220" y="192024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할루시네이션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475220" y="23591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2%</a:t>
            </a:r>
            <a:endParaRPr lang="en-US" sz="2500" dirty="0"/>
          </a:p>
        </p:txBody>
      </p:sp>
      <p:sp>
        <p:nvSpPr>
          <p:cNvPr id="23" name="Text 21"/>
          <p:cNvSpPr txBox="1"/>
          <p:nvPr/>
        </p:nvSpPr>
        <p:spPr>
          <a:xfrm>
            <a:off x="7475220" y="2871216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미포함 답변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탐지 + 샘플 검수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509760" y="1755648"/>
            <a:ext cx="20116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92640" y="192024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가용성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9692640" y="23591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99.9%</a:t>
            </a:r>
            <a:endParaRPr lang="en-US" sz="2500" dirty="0"/>
          </a:p>
        </p:txBody>
      </p:sp>
      <p:sp>
        <p:nvSpPr>
          <p:cNvPr id="27" name="Text 25"/>
          <p:cNvSpPr txBox="1"/>
          <p:nvPr/>
        </p:nvSpPr>
        <p:spPr>
          <a:xfrm>
            <a:off x="9692640" y="2871216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월간 기준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" y="3968496"/>
            <a:ext cx="10908792" cy="960120"/>
          </a:xfrm>
          <a:prstGeom prst="rect">
            <a:avLst/>
          </a:prstGeom>
          <a:solidFill>
            <a:srgbClr val="EFE0E1"/>
          </a:solidFill>
          <a:ln w="12700">
            <a:solidFill>
              <a:srgbClr val="EFE0E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96112" y="4133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2F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 — 오답보다 이관이 안전하다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96112" y="4443984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근거를 확보하지 못한 질의에는 답을 만들지 않고 “모름 + 상담사 이관”을 반환합니다. 정확도 미달 리스크를 제품 기본 동작으로 흡수하는 구조입니다.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8368" y="5202936"/>
            <a:ext cx="73152" cy="73152"/>
          </a:xfrm>
          <a:prstGeom prst="rect">
            <a:avLst/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59536" y="510235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골든셋 회귀 평가  </a:t>
            </a:r>
            <a:pPr indent="0" marL="0">
              <a:buNone/>
            </a:pPr>
            <a:r>
              <a:rPr lang="en-US" sz="10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테넌트별 200문항을 배포 파이프라인에 CI로 연결 — 정확도 하락 시 배포 차단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58368" y="5586984"/>
            <a:ext cx="73152" cy="73152"/>
          </a:xfrm>
          <a:prstGeom prst="rect">
            <a:avLst/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59536" y="54864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버저닝  </a:t>
            </a:r>
            <a:pPr indent="0" marL="0">
              <a:buNone/>
            </a:pPr>
            <a:r>
              <a:rPr lang="en-US" sz="10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프롬프트·인덱스·모델 버전을 함께 기록해 품질 변화의 원인을 추적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58368" y="5971032"/>
            <a:ext cx="73152" cy="73152"/>
          </a:xfrm>
          <a:prstGeom prst="rect">
            <a:avLst/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59536" y="58704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구간 감사로그  </a:t>
            </a:r>
            <a:pPr indent="0" marL="0">
              <a:buNone/>
            </a:pPr>
            <a:r>
              <a:rPr lang="en-US" sz="10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질의 · 검색 근거 · 생성 답변을 테넌트별로 보존 — 규제 대응 및 분쟁 시 증빙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34593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BSM · 하이브리드 RAG 챗봇 ISP · 투자 유치 계획서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45936"/>
            <a:ext cx="576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429768"/>
            <a:ext cx="91440" cy="91440"/>
          </a:xfrm>
          <a:prstGeom prst="rect">
            <a:avLst/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2104" y="3383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C2F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PRICING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00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ISP형 요금 체계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0700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→ 개통 → 월 이용료 → 사용량 초과 과금. 고객은 회선을 개통하듯 챗봇을 개통합니다.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755648"/>
            <a:ext cx="2514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" y="1920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Starter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224942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99,000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267004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 / 월 (VAT 별도)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41248" y="2980944"/>
            <a:ext cx="2112264" cy="0"/>
          </a:xfrm>
          <a:prstGeom prst="line">
            <a:avLst/>
          </a:prstGeom>
          <a:noFill/>
          <a:ln w="12700">
            <a:solidFill>
              <a:srgbClr val="D9D8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3072384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500p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1,000세션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1개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398678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6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초과 세션당 80원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435254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소상공인 · 쇼핑몰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29000" y="1755648"/>
            <a:ext cx="2514600" cy="3200400"/>
          </a:xfrm>
          <a:prstGeom prst="rect">
            <a:avLst/>
          </a:prstGeom>
          <a:solidFill>
            <a:srgbClr val="EFE0E1"/>
          </a:solidFill>
          <a:ln w="12700">
            <a:solidFill>
              <a:srgbClr val="EFE0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30168" y="1920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2F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630168" y="224942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290,000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3630168" y="267004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 / 월 (VAT 별도)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30168" y="2980944"/>
            <a:ext cx="2112264" cy="0"/>
          </a:xfrm>
          <a:prstGeom prst="line">
            <a:avLst/>
          </a:prstGeom>
          <a:noFill/>
          <a:ln w="12700">
            <a:solidFill>
              <a:srgbClr val="D8BFC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30168" y="3072384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3,000p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5,000세션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3개 · API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3630168" y="398678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C2F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초과 세션당 55원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630168" y="435254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중소기업 · 학원 · 병의원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17920" y="1755648"/>
            <a:ext cx="2514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19088" y="1920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Business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419088" y="224942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690,000</a:t>
            </a:r>
            <a:endParaRPr lang="en-US" sz="2100" dirty="0"/>
          </a:p>
        </p:txBody>
      </p:sp>
      <p:sp>
        <p:nvSpPr>
          <p:cNvPr id="27" name="Text 25"/>
          <p:cNvSpPr txBox="1"/>
          <p:nvPr/>
        </p:nvSpPr>
        <p:spPr>
          <a:xfrm>
            <a:off x="6419088" y="267004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 / 월 (VAT 별도)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19088" y="2980944"/>
            <a:ext cx="2112264" cy="0"/>
          </a:xfrm>
          <a:prstGeom prst="line">
            <a:avLst/>
          </a:prstGeom>
          <a:noFill/>
          <a:ln w="12700">
            <a:solidFill>
              <a:srgbClr val="D9D8D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19088" y="3072384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20,000p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20,000세션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무제한 채널 · SSO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419088" y="398678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6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초과 세션당 35원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419088" y="435254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중견기업 · 프랜차이즈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006840" y="1755648"/>
            <a:ext cx="2514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208008" y="1920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208008" y="224942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별도 견적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9208008" y="267004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 3,000만 ~ 1억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208008" y="2980944"/>
            <a:ext cx="2112264" cy="0"/>
          </a:xfrm>
          <a:prstGeom prst="line">
            <a:avLst/>
          </a:prstGeom>
          <a:noFill/>
          <a:ln w="12700">
            <a:solidFill>
              <a:srgbClr val="D9D8D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208008" y="3072384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전용 프로젝트 / VPC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온프렘 연동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커스텀 SLA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9208008" y="398678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6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사용량 협의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9208008" y="435254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 · 금융 · 대기업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40080" y="5138928"/>
            <a:ext cx="10908792" cy="786384"/>
          </a:xfrm>
          <a:prstGeom prst="rect">
            <a:avLst/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77824" y="541324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개통비 30만 ~ 300만 원 (1회)   </a:t>
            </a:r>
            <a:pPr indent="0" marL="0">
              <a:buNone/>
            </a:pPr>
            <a:r>
              <a:rPr lang="en-US" sz="11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정제 · 초기 학습 · 검수 — 전 플랜 공통.  파트너가 수행하고 개통비의 70%를 가져갑니다.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34593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BSM · 하이브리드 RAG 챗봇 ISP · 투자 유치 계획서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45936"/>
            <a:ext cx="576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429768"/>
            <a:ext cx="91440" cy="91440"/>
          </a:xfrm>
          <a:prstGeom prst="rect">
            <a:avLst/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2104" y="3383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C2F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DISTRIBUTION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00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분양 — CAC를 파트너가 흡수하는 구조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0700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소상공인 시장은 온라인 획득 CAC가 높습니다. 지역 파트너의 대면 영업이 압도적으로 효율적입니다.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755648"/>
            <a:ext cx="3566160" cy="1298448"/>
          </a:xfrm>
          <a:prstGeom prst="rect">
            <a:avLst/>
          </a:prstGeom>
          <a:solidFill>
            <a:srgbClr val="EFE0E1"/>
          </a:solidFill>
          <a:ln w="12700">
            <a:solidFill>
              <a:srgbClr val="EFE0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" y="1901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C2F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BSM 본사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221284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 · 인프라 · 품질 보증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250545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구독 매출 60% + 초과 사용량 100% + 분양비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79392" y="2286000"/>
            <a:ext cx="219456" cy="182880"/>
          </a:xfrm>
          <a:prstGeom prst="rightArrow">
            <a:avLst/>
          </a:prstGeom>
          <a:solidFill>
            <a:srgbClr val="C4C2BE"/>
          </a:solidFill>
          <a:ln w="12700">
            <a:solidFill>
              <a:srgbClr val="C4C2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17136" y="1755648"/>
            <a:ext cx="35661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18304" y="1901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분양 파트너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718304" y="221284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모집 · 온보딩 · 1차 CS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718304" y="250545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구독 매출 40% (20개 초과분 45%) + 개통비 70%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56448" y="2286000"/>
            <a:ext cx="219456" cy="182880"/>
          </a:xfrm>
          <a:prstGeom prst="rightArrow">
            <a:avLst/>
          </a:prstGeom>
          <a:solidFill>
            <a:srgbClr val="C4C2BE"/>
          </a:solidFill>
          <a:ln w="12700">
            <a:solidFill>
              <a:srgbClr val="C4C2B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94192" y="1755648"/>
            <a:ext cx="35661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95360" y="1901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테넌트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8595360" y="221284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구독 사용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595360" y="250545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9.9만 ~ 69만 원 + 개통비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2552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분양 조건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3602736"/>
            <a:ext cx="6903720" cy="429768"/>
          </a:xfrm>
          <a:prstGeom prst="rect">
            <a:avLst/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1248" y="36941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분양 단위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2615184" y="369417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업종 팩 × 권역 1구좌 · 권역당 1구좌 상한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4105656"/>
            <a:ext cx="69037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41248" y="419709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분양비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2615184" y="419709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1,500만 원 (4주 교육 + 파트너 포털 + 마케팅 키트 + 독점권 12개월)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4608576"/>
            <a:ext cx="6903720" cy="429768"/>
          </a:xfrm>
          <a:prstGeom prst="rect">
            <a:avLst/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41248" y="470001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플랫폼 사용료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2615184" y="470001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30만 원 · 테넌트 5개 이상 확보 시 면제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" y="5111496"/>
            <a:ext cx="69037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41248" y="52029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파트너 손익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2615184" y="520293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테넌트 25개 확보 시 월 순수익 약 200만 원 → 투자금 회수 12~14개월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818120" y="3255264"/>
            <a:ext cx="3730752" cy="2395728"/>
          </a:xfrm>
          <a:prstGeom prst="rect">
            <a:avLst/>
          </a:prstGeom>
          <a:solidFill>
            <a:srgbClr val="16181B"/>
          </a:solidFill>
          <a:ln w="12700">
            <a:solidFill>
              <a:srgbClr val="16181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037576" y="34381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분양 모델 리스크 통제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8037576" y="37307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6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편차와 “분양비 장사” 오해가 최대 위험입니다.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037576" y="4169664"/>
            <a:ext cx="64008" cy="64008"/>
          </a:xfrm>
          <a:prstGeom prst="rect">
            <a:avLst/>
          </a:prstGeom>
          <a:solidFill>
            <a:srgbClr val="D9848D"/>
          </a:solidFill>
          <a:ln w="12700">
            <a:solidFill>
              <a:srgbClr val="D9848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211312" y="407822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D6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파트너 자격 심사 — IT 유통·SI 경력 필수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037576" y="4480560"/>
            <a:ext cx="64008" cy="64008"/>
          </a:xfrm>
          <a:prstGeom prst="rect">
            <a:avLst/>
          </a:prstGeom>
          <a:solidFill>
            <a:srgbClr val="D9848D"/>
          </a:solidFill>
          <a:ln w="12700">
            <a:solidFill>
              <a:srgbClr val="D9848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211312" y="43891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D6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조건부 환불 — 12개월 내 테넌트 10개 미달 시 50% 환급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037576" y="4791456"/>
            <a:ext cx="64008" cy="64008"/>
          </a:xfrm>
          <a:prstGeom prst="rect">
            <a:avLst/>
          </a:prstGeom>
          <a:solidFill>
            <a:srgbClr val="D9848D"/>
          </a:solidFill>
          <a:ln w="12700">
            <a:solidFill>
              <a:srgbClr val="D9848D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211312" y="470001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D6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테넌트 만족도 기반 파트너 등급제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037576" y="5102352"/>
            <a:ext cx="64008" cy="64008"/>
          </a:xfrm>
          <a:prstGeom prst="rect">
            <a:avLst/>
          </a:prstGeom>
          <a:solidFill>
            <a:srgbClr val="D9848D"/>
          </a:solidFill>
          <a:ln w="12700">
            <a:solidFill>
              <a:srgbClr val="D9848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211312" y="50109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D6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권역 과밀 방지 상한 · 본사 QA 샘플 검수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037576" y="5413248"/>
            <a:ext cx="64008" cy="64008"/>
          </a:xfrm>
          <a:prstGeom prst="rect">
            <a:avLst/>
          </a:prstGeom>
          <a:solidFill>
            <a:srgbClr val="D9848D"/>
          </a:solidFill>
          <a:ln w="12700">
            <a:solidFill>
              <a:srgbClr val="D9848D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211312" y="53218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D6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계약서 공정거래 사전 검토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34593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BSM · 하이브리드 RAG 챗봇 ISP · 투자 유치 계획서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45936"/>
            <a:ext cx="576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429768"/>
            <a:ext cx="91440" cy="91440"/>
          </a:xfrm>
          <a:prstGeom prst="rect">
            <a:avLst/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2104" y="3383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C2F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 ECONOMICS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00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명의 고객이 만드는 돈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0700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이탈률 월 2.5%를 반영한 보수적 기준입니다.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755648"/>
            <a:ext cx="34747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87452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블렌디드 ARPU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09397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21만 원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514600"/>
            <a:ext cx="3108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· 플랜 믹스 6:3:1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43400" y="1755648"/>
            <a:ext cx="34747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26280" y="187452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매출총이익률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209397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25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2514600"/>
            <a:ext cx="3108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클라우드·모델 원가 25%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46720" y="1755648"/>
            <a:ext cx="34747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0" y="187452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이탈률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209397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2.5%</a:t>
            </a:r>
            <a:endParaRPr lang="en-US" sz="25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2514600"/>
            <a:ext cx="3108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 26% · 파트너 CS 개입 반영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145536"/>
            <a:ext cx="34747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326440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LTV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348386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630만 원</a:t>
            </a:r>
            <a:endParaRPr lang="en-US" sz="25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3904488"/>
            <a:ext cx="3108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ARPU × 총이익률 ÷ 이탈률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43400" y="3145536"/>
            <a:ext cx="34747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26280" y="326440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CAC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4526280" y="348386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60만 원</a:t>
            </a:r>
            <a:endParaRPr lang="en-US" sz="25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3904488"/>
            <a:ext cx="3108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파트너 마진 선지급 + 본사 지원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046720" y="3145536"/>
            <a:ext cx="34747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326440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CAC 회수기간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348386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3.8개월</a:t>
            </a:r>
            <a:endParaRPr lang="en-US" sz="25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3904488"/>
            <a:ext cx="3108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NDR 목표 105%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" y="4645152"/>
            <a:ext cx="10908792" cy="1298448"/>
          </a:xfrm>
          <a:prstGeom prst="rect">
            <a:avLst/>
          </a:prstGeom>
          <a:solidFill>
            <a:srgbClr val="EFE0E1"/>
          </a:solidFill>
          <a:ln w="12700">
            <a:solidFill>
              <a:srgbClr val="EFE0E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50976" y="4864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C2F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LTV / CAC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50976" y="51389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C2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10.5배</a:t>
            </a:r>
            <a:endParaRPr lang="en-US" sz="4000" dirty="0"/>
          </a:p>
        </p:txBody>
      </p:sp>
      <p:sp>
        <p:nvSpPr>
          <p:cNvPr id="35" name="Shape 33"/>
          <p:cNvSpPr/>
          <p:nvPr/>
        </p:nvSpPr>
        <p:spPr>
          <a:xfrm>
            <a:off x="3657600" y="4882896"/>
            <a:ext cx="0" cy="841248"/>
          </a:xfrm>
          <a:prstGeom prst="line">
            <a:avLst/>
          </a:prstGeom>
          <a:noFill/>
          <a:ln w="12700">
            <a:solidFill>
              <a:srgbClr val="D8BFC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950208" y="5010912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SaaS 업계에서 통상 3배 이상이면 건전한 구조로 평가합니다. BSM은 파트너가 획득 비용을 흡수하고 온보딩까지 수행하는 구조라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ARPU 대비 CAC가 낮고, 파트너의 1차 CS가 이탈률을 억제해 LTV가 함께 올라갑니다.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34593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BSM · 하이브리드 RAG 챗봇 ISP · 투자 유치 계획서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45936"/>
            <a:ext cx="576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429768"/>
            <a:ext cx="91440" cy="91440"/>
          </a:xfrm>
          <a:prstGeom prst="rect">
            <a:avLst/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2104" y="3383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C2F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ROADMAP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00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36개월 실행 계획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0700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단계의 종료 조건을 정량 지표로 고정했습니다.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810512"/>
            <a:ext cx="2514600" cy="3794760"/>
          </a:xfrm>
          <a:prstGeom prst="rect">
            <a:avLst/>
          </a:prstGeom>
          <a:solidFill>
            <a:srgbClr val="EFE0E1"/>
          </a:solidFill>
          <a:ln w="12700">
            <a:solidFill>
              <a:srgbClr val="EFE0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1975104"/>
            <a:ext cx="182880" cy="182880"/>
          </a:xfrm>
          <a:prstGeom prst="ellipse">
            <a:avLst/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15568" y="193852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8C2F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0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223113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E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0–3개월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48716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" y="283464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자사몰을 1호 테넌트로 전환해 상담 자동화율·매출 기여 실측. 블로그·유튜브 콘텐츠로 네트워크·IT 도메인 팩 1차 완성. 무료 파일럿 10개사 유치. AX 바우처 공급기업 등록.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41248" y="4681728"/>
            <a:ext cx="2112264" cy="749808"/>
          </a:xfrm>
          <a:prstGeom prst="rect">
            <a:avLst/>
          </a:prstGeom>
          <a:solidFill>
            <a:srgbClr val="E4CFD1"/>
          </a:solidFill>
          <a:ln w="12700">
            <a:solidFill>
              <a:srgbClr val="E4CFD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9264" y="47548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969264" y="4956048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8C2F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파일럿 10사 · 골든셋 2,000문항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29000" y="1810512"/>
            <a:ext cx="25146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30168" y="1975104"/>
            <a:ext cx="182880" cy="182880"/>
          </a:xfrm>
          <a:prstGeom prst="ellipse">
            <a:avLst/>
          </a:prstGeom>
          <a:solidFill>
            <a:srgbClr val="C4C2BE"/>
          </a:solidFill>
          <a:ln w="12700">
            <a:solidFill>
              <a:srgbClr val="C4C2B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904488" y="193852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3630168" y="223113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E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4–9개월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630168" y="248716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상품화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3630168" y="283464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셀프서비스 가입·결제·무인 개통 오픈. 카카오톡 채널·웹위젯·인스타그램 DM 연동 완성. 파트너 포털 v1과 4주 교육 커리큘럼 출시.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30168" y="4681728"/>
            <a:ext cx="2112264" cy="749808"/>
          </a:xfrm>
          <a:prstGeom prst="rect">
            <a:avLst/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758184" y="47548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3758184" y="4956048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유료 테넌트 100 · 파트너 8개좌 · MRR 2,000만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17920" y="1810512"/>
            <a:ext cx="25146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19088" y="1975104"/>
            <a:ext cx="182880" cy="182880"/>
          </a:xfrm>
          <a:prstGeom prst="ellipse">
            <a:avLst/>
          </a:prstGeom>
          <a:solidFill>
            <a:srgbClr val="C4C2BE"/>
          </a:solidFill>
          <a:ln w="12700">
            <a:solidFill>
              <a:srgbClr val="C4C2B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93408" y="193852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6419088" y="223113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E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10–18개월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419088" y="248716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6419088" y="283464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팩 3종 추가(커머스·교육·의료). AICC 음성 연동. 정부 바우처 컨소시엄 5건 이상 수주. ISMS-P 인증 착수.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19088" y="4681728"/>
            <a:ext cx="2112264" cy="749808"/>
          </a:xfrm>
          <a:prstGeom prst="rect">
            <a:avLst/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47104" y="47548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6547104" y="4956048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유료 테넌트 900 · 파트너 45개좌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006840" y="1810512"/>
            <a:ext cx="25146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208008" y="1975104"/>
            <a:ext cx="182880" cy="182880"/>
          </a:xfrm>
          <a:prstGeom prst="ellipse">
            <a:avLst/>
          </a:prstGeom>
          <a:solidFill>
            <a:srgbClr val="C4C2BE"/>
          </a:solidFill>
          <a:ln w="12700">
            <a:solidFill>
              <a:srgbClr val="C4C2B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482328" y="193852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9208008" y="223113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E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19–36개월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9208008" y="248716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지배</a:t>
            </a:r>
            <a:endParaRPr lang="en-US" sz="1700" dirty="0"/>
          </a:p>
        </p:txBody>
      </p:sp>
      <p:sp>
        <p:nvSpPr>
          <p:cNvPr id="40" name="Text 38"/>
          <p:cNvSpPr txBox="1"/>
          <p:nvPr/>
        </p:nvSpPr>
        <p:spPr>
          <a:xfrm>
            <a:off x="9208008" y="283464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액션 에이전트 출시 — 조회를 넘어 주문 변경·예약·CRM 기록까지 수행. 파트너 도메인 팩 마켓플레이스 개설. 일본·동남아 시범 분양.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208008" y="4681728"/>
            <a:ext cx="2112264" cy="749808"/>
          </a:xfrm>
          <a:prstGeom prst="rect">
            <a:avLst/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336024" y="47548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9336024" y="4956048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유료 테넌트 2,400 · BEP 달성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34593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BSM · 하이브리드 RAG 챗봇 ISP · 투자 유치 계획서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45936"/>
            <a:ext cx="576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429768"/>
            <a:ext cx="91440" cy="91440"/>
          </a:xfrm>
          <a:prstGeom prst="rect">
            <a:avLst/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2104" y="3383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C2F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FINANCIALS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00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5개년 재무 추정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0700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테넌트 증가는 파트너 구좌 수 × 구좌당 평균 테넌트로 구동됩니다. (단위: 억 원)</a:t>
            </a:r>
            <a:endParaRPr lang="en-US" sz="12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40080" y="1755648"/>
          <a:ext cx="67208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640080" y="5632704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막대 = 총매출 · 선 = 영업이익.  영업이익은 3차년도에 +4억 원으로 흑자 전환합니다. (정확한 값은 우측 표 참조)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71232" y="2084832"/>
          <a:ext cx="3977640" cy="3017520"/>
        </p:xfrm>
        <a:graphic>
          <a:graphicData uri="http://schemas.openxmlformats.org/drawingml/2006/table">
            <a:tbl>
              <a:tblPr/>
              <a:tblGrid>
                <a:gridCol w="1325880"/>
                <a:gridCol w="530352"/>
                <a:gridCol w="530352"/>
                <a:gridCol w="530352"/>
                <a:gridCol w="530352"/>
                <a:gridCol w="530352"/>
              </a:tblGrid>
              <a:tr h="3771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B6E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6B6E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Y1 ’27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6B6E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Y2 ’28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6B6E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Y3 ’29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6B6E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Y4 ’30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6B6E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Y5 ’31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18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파트너 구좌 (누적)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B404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B404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B404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B404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B404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18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유료 테넌트 (기말)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B404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B404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900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B404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2,400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B404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5,000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B404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8,500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8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총매출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B404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B404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32.0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B404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B404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152.0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B404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260.0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8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매출총이익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B404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B404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24.6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B404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60.8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B404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120.0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B404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208.0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8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영업이익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8C2F39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-8.0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8C2F39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-6.0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E6A5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+4.0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E6A5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+28.0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E6A5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+62.0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18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영업이익률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B404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-84%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B404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-19%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B404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B404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B404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18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인원 (기말)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B404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B404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B404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B404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B404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7571232" y="5248656"/>
            <a:ext cx="3977640" cy="658368"/>
          </a:xfrm>
          <a:prstGeom prst="rect">
            <a:avLst/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754112" y="535838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Y1~Y2 누적 손실 14억 · 조달 30억 기준 런웨이 30개월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9768"/>
            <a:ext cx="91440" cy="91440"/>
          </a:xfrm>
          <a:prstGeom prst="rect">
            <a:avLst/>
          </a:prstGeom>
          <a:solidFill>
            <a:srgbClr val="D9848D"/>
          </a:solidFill>
          <a:ln w="12700">
            <a:solidFill>
              <a:srgbClr val="D9848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32104" y="3383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D984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ASK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30억 원, 마일스톤 연동 2단계 집행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6309360" cy="0"/>
          </a:xfrm>
          <a:prstGeom prst="line">
            <a:avLst/>
          </a:prstGeom>
          <a:noFill/>
          <a:ln w="12700">
            <a:solidFill>
              <a:srgbClr val="3235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276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E8B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라운드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340864" y="1618488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Pre-Series 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23744"/>
            <a:ext cx="6309360" cy="0"/>
          </a:xfrm>
          <a:prstGeom prst="line">
            <a:avLst/>
          </a:prstGeom>
          <a:noFill/>
          <a:ln w="12700">
            <a:solidFill>
              <a:srgbClr val="3235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1396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E8B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조달액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340864" y="2130552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30억 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035808"/>
            <a:ext cx="6309360" cy="0"/>
          </a:xfrm>
          <a:prstGeom prst="line">
            <a:avLst/>
          </a:prstGeom>
          <a:noFill/>
          <a:ln w="12700">
            <a:solidFill>
              <a:srgbClr val="3235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651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E8B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기업가치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2340864" y="2642616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 120억 / Post 150억 · 지분 20%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547872"/>
            <a:ext cx="6309360" cy="0"/>
          </a:xfrm>
          <a:prstGeom prst="line">
            <a:avLst/>
          </a:prstGeom>
          <a:noFill/>
          <a:ln w="12700">
            <a:solidFill>
              <a:srgbClr val="3235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1638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E8B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증권 형태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2340864" y="3154680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상환전환우선주(RCPS) 또는 전환사채(CB) — 협의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059936"/>
            <a:ext cx="6309360" cy="0"/>
          </a:xfrm>
          <a:prstGeom prst="line">
            <a:avLst/>
          </a:prstGeom>
          <a:noFill/>
          <a:ln w="12700">
            <a:solidFill>
              <a:srgbClr val="3235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6758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E8B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집행 구조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2340864" y="3666744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18억 (계약 즉시) / 2차 12억 (Phase 1 KPI 달성 시)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572000"/>
            <a:ext cx="6309360" cy="0"/>
          </a:xfrm>
          <a:prstGeom prst="line">
            <a:avLst/>
          </a:prstGeom>
          <a:noFill/>
          <a:ln w="12700">
            <a:solidFill>
              <a:srgbClr val="3235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4187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E8B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 집행 KPI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340864" y="4178808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유료 테넌트 100 · 파트너 8개좌 · MRR 2,000만 · 정답률 90%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1572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자금 사용 계획</a:t>
            </a:r>
            <a:endParaRPr lang="en-US" sz="13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7635240" y="1847088"/>
          <a:ext cx="356616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hape 22"/>
          <p:cNvSpPr/>
          <p:nvPr/>
        </p:nvSpPr>
        <p:spPr>
          <a:xfrm>
            <a:off x="7315200" y="4645152"/>
            <a:ext cx="100584" cy="100584"/>
          </a:xfrm>
          <a:prstGeom prst="rect">
            <a:avLst/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534656" y="45537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6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· R&amp;D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9875520" y="45537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B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45%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0652760" y="4553712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13.5억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0" y="4974336"/>
            <a:ext cx="100584" cy="100584"/>
          </a:xfrm>
          <a:prstGeom prst="rect">
            <a:avLst/>
          </a:prstGeom>
          <a:solidFill>
            <a:srgbClr val="B05A62"/>
          </a:solidFill>
          <a:ln w="12700">
            <a:solidFill>
              <a:srgbClr val="B05A62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534656" y="48828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6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 · 마케팅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9875520" y="488289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B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652760" y="4882896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7.5억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315200" y="5303520"/>
            <a:ext cx="100584" cy="100584"/>
          </a:xfrm>
          <a:prstGeom prst="rect">
            <a:avLst/>
          </a:prstGeom>
          <a:solidFill>
            <a:srgbClr val="C98A90"/>
          </a:solidFill>
          <a:ln w="12700">
            <a:solidFill>
              <a:srgbClr val="C98A90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534656" y="5212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6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인프라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9875520" y="5212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B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12%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10652760" y="521208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3.6억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7315200" y="5632704"/>
            <a:ext cx="100584" cy="100584"/>
          </a:xfrm>
          <a:prstGeom prst="rect">
            <a:avLst/>
          </a:prstGeom>
          <a:solidFill>
            <a:srgbClr val="8E9AA0"/>
          </a:solidFill>
          <a:ln w="12700">
            <a:solidFill>
              <a:srgbClr val="8E9AA0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534656" y="55412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6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파트너 네트워크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9875520" y="55412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B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10652760" y="5541264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3.0억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7315200" y="5961888"/>
            <a:ext cx="100584" cy="100584"/>
          </a:xfrm>
          <a:prstGeom prst="rect">
            <a:avLst/>
          </a:prstGeom>
          <a:solidFill>
            <a:srgbClr val="5C6166"/>
          </a:solidFill>
          <a:ln w="12700">
            <a:solidFill>
              <a:srgbClr val="5C616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534656" y="5870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6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· 법무 · 예비</a:t>
            </a:r>
            <a:endParaRPr lang="en-US" sz="1050" dirty="0"/>
          </a:p>
        </p:txBody>
      </p:sp>
      <p:sp>
        <p:nvSpPr>
          <p:cNvPr id="43" name="Text 40"/>
          <p:cNvSpPr txBox="1"/>
          <p:nvPr/>
        </p:nvSpPr>
        <p:spPr>
          <a:xfrm>
            <a:off x="9875520" y="58704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B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8%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10652760" y="5870448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2.4억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640080" y="4828032"/>
            <a:ext cx="6309360" cy="1097280"/>
          </a:xfrm>
          <a:prstGeom prst="rect">
            <a:avLst/>
          </a:prstGeom>
          <a:solidFill>
            <a:srgbClr val="1E2124"/>
          </a:solidFill>
          <a:ln w="12700">
            <a:solidFill>
              <a:srgbClr val="1E2124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877824" y="49560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84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밸류에이션 근거</a:t>
            </a:r>
            <a:endParaRPr lang="en-US" sz="1050" dirty="0"/>
          </a:p>
        </p:txBody>
      </p:sp>
      <p:sp>
        <p:nvSpPr>
          <p:cNvPr id="47" name="Text 44"/>
          <p:cNvSpPr txBox="1"/>
          <p:nvPr/>
        </p:nvSpPr>
        <p:spPr>
          <a:xfrm>
            <a:off x="877824" y="5230368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C7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Y3 예상 매출 78억 기준 Post 150억은 EV/Revenue 1.9배. 국내 B2B SaaS 통상 5~8배, 2026년 시드~시리즈A 100억 이상 빅딜 31건(전년비 +41%)을 감안하면 보수적 수준.</a:t>
            </a:r>
            <a:endParaRPr lang="en-US" sz="1050" dirty="0"/>
          </a:p>
        </p:txBody>
      </p:sp>
      <p:sp>
        <p:nvSpPr>
          <p:cNvPr id="48" name="Text 45"/>
          <p:cNvSpPr txBox="1"/>
          <p:nvPr/>
        </p:nvSpPr>
        <p:spPr>
          <a:xfrm>
            <a:off x="640080" y="634593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B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BSM · 하이브리드 RAG 챗봇 ISP · 투자 유치 계획서</a:t>
            </a:r>
            <a:endParaRPr lang="en-US" sz="850" dirty="0"/>
          </a:p>
        </p:txBody>
      </p:sp>
      <p:sp>
        <p:nvSpPr>
          <p:cNvPr id="49" name="Text 46"/>
          <p:cNvSpPr txBox="1"/>
          <p:nvPr/>
        </p:nvSpPr>
        <p:spPr>
          <a:xfrm>
            <a:off x="10972800" y="6345936"/>
            <a:ext cx="576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34593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BSM · 하이브리드 RAG 챗봇 ISP · 투자 유치 계획서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45936"/>
            <a:ext cx="576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429768"/>
            <a:ext cx="91440" cy="91440"/>
          </a:xfrm>
          <a:prstGeom prst="rect">
            <a:avLst/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2104" y="3383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C2F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RISK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00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리스크와 대응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20700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영향도 상(上) 항목을 먼저 배치했습니다.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755648"/>
            <a:ext cx="5312664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" y="18836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빅테크 번들링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193792" y="1901952"/>
            <a:ext cx="548640" cy="274320"/>
          </a:xfrm>
          <a:prstGeom prst="rect">
            <a:avLst/>
          </a:prstGeom>
          <a:solidFill>
            <a:srgbClr val="EFE0E1"/>
          </a:solidFill>
          <a:ln w="12700">
            <a:solidFill>
              <a:srgbClr val="EFE0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93792" y="192938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C2F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176272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플랫폼의 챗봇 무료 끼워팔기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" y="2450592"/>
            <a:ext cx="4892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범용이 못 하는 테넌트 전용 데이터 거버넌스·감사로그·업무 시스템 연동으로 회피. 가격이 아니라 책임 소재로 경쟁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81344" y="1755648"/>
            <a:ext cx="5312664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82512" y="18836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정확도 미달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735056" y="1901952"/>
            <a:ext cx="548640" cy="274320"/>
          </a:xfrm>
          <a:prstGeom prst="rect">
            <a:avLst/>
          </a:prstGeom>
          <a:solidFill>
            <a:srgbClr val="EFE0E1"/>
          </a:solidFill>
          <a:ln w="12700">
            <a:solidFill>
              <a:srgbClr val="EFE0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735056" y="192938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C2F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382512" y="2176272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 1건이 민원으로 직결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382512" y="2450592"/>
            <a:ext cx="4892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골든셋 회귀 평가 CI화. 근거 미확보 시 “모름 + 상담사 이관”이 기본값 — 오답보다 이관이 안전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182112"/>
            <a:ext cx="5312664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1248" y="3310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파트너 품질 편차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193792" y="3328416"/>
            <a:ext cx="548640" cy="274320"/>
          </a:xfrm>
          <a:prstGeom prst="rect">
            <a:avLst/>
          </a:prstGeom>
          <a:solidFill>
            <a:srgbClr val="EFE0E1"/>
          </a:solidFill>
          <a:ln w="12700">
            <a:solidFill>
              <a:srgbClr val="EFE0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93792" y="33558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C2F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41248" y="3602736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분양 모델의 최대 위험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41248" y="3877056"/>
            <a:ext cx="4892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자격 심사 · 등급제 · 조건부 환불 · 본사 QA 샘플 검수 · 권역당 1구좌 상한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81344" y="3182112"/>
            <a:ext cx="5312664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82512" y="3310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유출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0735056" y="3328416"/>
            <a:ext cx="548640" cy="274320"/>
          </a:xfrm>
          <a:prstGeom prst="rect">
            <a:avLst/>
          </a:prstGeom>
          <a:solidFill>
            <a:srgbClr val="EFE0E1"/>
          </a:solidFill>
          <a:ln w="12700">
            <a:solidFill>
              <a:srgbClr val="EFE0E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735056" y="33558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C2F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382512" y="3602736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데이터 내 개인정보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382512" y="3877056"/>
            <a:ext cx="4892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리전 고정 · PII 마스킹 · 테넌트별 IAM·CMEK · ISMS-P · 침해 대응 보험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" y="4608576"/>
            <a:ext cx="5312664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41248" y="4736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원가 변동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193792" y="4754880"/>
            <a:ext cx="548640" cy="274320"/>
          </a:xfrm>
          <a:prstGeom prst="rect">
            <a:avLst/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193792" y="478231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41248" y="5029200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단가 및 정책 변경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841248" y="5303520"/>
            <a:ext cx="4892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라우팅(경량↔고성능) · 응답 캐시 · 자체 임베딩 전환 옵션 · 요금제 내 세션 상한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81344" y="4608576"/>
            <a:ext cx="5312664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382512" y="4736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 강화 · 경기 침체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10735056" y="4754880"/>
            <a:ext cx="548640" cy="274320"/>
          </a:xfrm>
          <a:prstGeom prst="rect">
            <a:avLst/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735056" y="478231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6382512" y="5029200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기본법 / IT 예산 축소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6382512" y="5303520"/>
            <a:ext cx="4892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B4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표시·투명성 요구를 제품 기본 기능으로 선제 내장. 정부 바우처 연계로 고객 실부담 20%까지 인하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9768"/>
            <a:ext cx="91440" cy="91440"/>
          </a:xfrm>
          <a:prstGeom prst="rect">
            <a:avLst/>
          </a:prstGeom>
          <a:solidFill>
            <a:srgbClr val="D9848D"/>
          </a:solidFill>
          <a:ln w="12700">
            <a:solidFill>
              <a:srgbClr val="D9848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32104" y="3383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D984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STEPS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 제출 전 실측치로 교체할 항목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2529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6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계획서의 시장·재무 수치는 공개 출처와 명시된 가정에 기반합니다. 아래 회사 실측 데이터는 아직 반영되지 않았습니다.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212848"/>
            <a:ext cx="5312664" cy="0"/>
          </a:xfrm>
          <a:prstGeom prst="line">
            <a:avLst/>
          </a:prstGeom>
          <a:noFill/>
          <a:ln w="12700">
            <a:solidFill>
              <a:srgbClr val="3235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8288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84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법인 형태 · 설립일 · 자본금 · 주주 구성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81344" y="2212848"/>
            <a:ext cx="5312664" cy="0"/>
          </a:xfrm>
          <a:prstGeom prst="line">
            <a:avLst/>
          </a:prstGeom>
          <a:noFill/>
          <a:ln w="12700">
            <a:solidFill>
              <a:srgbClr val="3235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81344" y="18288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84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638544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대표자 이력 및 핵심 팀 프로필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9930384" y="18470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B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 심사 최대 가중치 항목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2779776"/>
            <a:ext cx="5312664" cy="0"/>
          </a:xfrm>
          <a:prstGeom prst="line">
            <a:avLst/>
          </a:prstGeom>
          <a:noFill/>
          <a:ln w="12700">
            <a:solidFill>
              <a:srgbClr val="3235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39572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84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237744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자사몰 최근 3년 매출 · 주문 수 · 문의 건수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389120" y="24140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B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1호 테넌트 ROI 근거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81344" y="2779776"/>
            <a:ext cx="5312664" cy="0"/>
          </a:xfrm>
          <a:prstGeom prst="line">
            <a:avLst/>
          </a:prstGeom>
          <a:noFill/>
          <a:ln w="12700">
            <a:solidFill>
              <a:srgbClr val="3235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81344" y="239572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84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638544" y="237744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블로그 월 방문자 · 누적 포스트 수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9930384" y="24140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B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코퍼스 규모 산정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" y="3346704"/>
            <a:ext cx="5312664" cy="0"/>
          </a:xfrm>
          <a:prstGeom prst="line">
            <a:avLst/>
          </a:prstGeom>
          <a:noFill/>
          <a:ln w="12700">
            <a:solidFill>
              <a:srgbClr val="32353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296265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84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294436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유튜브 구독자 · 조회수 · 업로드 주기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389120" y="29809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B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파트너 모집 채널 가치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81344" y="3346704"/>
            <a:ext cx="5312664" cy="0"/>
          </a:xfrm>
          <a:prstGeom prst="line">
            <a:avLst/>
          </a:prstGeom>
          <a:noFill/>
          <a:ln w="12700">
            <a:solidFill>
              <a:srgbClr val="32353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81344" y="296265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84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638544" y="294436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챗봇/AI 개발 실적 · 보유 특허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9930384" y="29809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B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신뢰도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80" y="3913632"/>
            <a:ext cx="5312664" cy="0"/>
          </a:xfrm>
          <a:prstGeom prst="line">
            <a:avLst/>
          </a:prstGeom>
          <a:noFill/>
          <a:ln w="12700">
            <a:solidFill>
              <a:srgbClr val="32353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" y="352958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84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097280" y="351129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인력 구성 및 GCP 운영 경험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81344" y="3913632"/>
            <a:ext cx="5312664" cy="0"/>
          </a:xfrm>
          <a:prstGeom prst="line">
            <a:avLst/>
          </a:prstGeom>
          <a:noFill/>
          <a:ln w="12700">
            <a:solidFill>
              <a:srgbClr val="32353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181344" y="352958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84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638544" y="351129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기확보 파일럿 고객 · LOI 여부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9930384" y="35478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B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Traction 섹션 신설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0080" y="4480560"/>
            <a:ext cx="5312664" cy="0"/>
          </a:xfrm>
          <a:prstGeom prst="line">
            <a:avLst/>
          </a:prstGeom>
          <a:noFill/>
          <a:ln w="12700">
            <a:solidFill>
              <a:srgbClr val="32353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" y="409651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84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097280" y="407822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투자 유치 · 정부과제 수행 이력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181344" y="4480560"/>
            <a:ext cx="5312664" cy="0"/>
          </a:xfrm>
          <a:prstGeom prst="line">
            <a:avLst/>
          </a:prstGeom>
          <a:noFill/>
          <a:ln w="12700">
            <a:solidFill>
              <a:srgbClr val="32353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181344" y="409651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84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638544" y="407822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 · 분양비의 시장 검증 결과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9930384" y="41148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B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가정값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40080" y="4828032"/>
            <a:ext cx="10908792" cy="1170432"/>
          </a:xfrm>
          <a:prstGeom prst="rect">
            <a:avLst/>
          </a:prstGeom>
          <a:solidFill>
            <a:srgbClr val="1E2124"/>
          </a:solidFill>
          <a:ln w="12700">
            <a:solidFill>
              <a:srgbClr val="1E2124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32688" y="501091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챗봇을 회선처럼, 앱을 분양처럼</a:t>
            </a:r>
            <a:endParaRPr lang="en-US" sz="2200" dirty="0"/>
          </a:p>
        </p:txBody>
      </p:sp>
      <p:sp>
        <p:nvSpPr>
          <p:cNvPr id="45" name="Text 43"/>
          <p:cNvSpPr txBox="1"/>
          <p:nvPr/>
        </p:nvSpPr>
        <p:spPr>
          <a:xfrm>
            <a:off x="932688" y="543153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84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Pre-Series A  ·  30억 원  ·  Post-money 150억  ·  지분 20%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8595360" y="4974336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8A6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BSM</a:t>
            </a:r>
            <a:endParaRPr lang="en-US" sz="105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8A6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netk.tistory.com</a:t>
            </a:r>
            <a:endParaRPr lang="en-US" sz="105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8A6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bsmshop.cafe24.com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640080" y="627278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B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문서는 투자 검토 목적의 사업계획서이며, 재무 추정치는 명시된 가정에 기반한 전망으로 확정된 실적이 아닙니다.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BSM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BSM 챗봇 ISP 투자 유치 계획서</dc:title>
  <dc:subject>PptxGenJS Presentation</dc:subject>
  <dc:creator>BSM</dc:creator>
  <cp:lastModifiedBy>BSM</cp:lastModifiedBy>
  <cp:revision>1</cp:revision>
  <dcterms:created xsi:type="dcterms:W3CDTF">2026-09-07T13:42:21Z</dcterms:created>
  <dcterms:modified xsi:type="dcterms:W3CDTF">2026-09-07T13:42:21Z</dcterms:modified>
</cp:coreProperties>
</file>